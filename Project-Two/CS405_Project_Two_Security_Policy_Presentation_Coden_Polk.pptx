
<file path=[Content_Types].xml><?xml version="1.0" encoding="utf-8"?>
<Types xmlns="http://schemas.openxmlformats.org/package/2006/content-types">
  <Default Extension="fntdata" ContentType="application/x-fontdata"/>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5"/>
  </p:notesMasterIdLst>
  <p:sldIdLst>
    <p:sldId id="256" r:id="rId5"/>
    <p:sldId id="257" r:id="rId6"/>
    <p:sldId id="258" r:id="rId7"/>
    <p:sldId id="259" r:id="rId8"/>
    <p:sldId id="260" r:id="rId9"/>
    <p:sldId id="261" r:id="rId10"/>
    <p:sldId id="262" r:id="rId11"/>
    <p:sldId id="263" r:id="rId12"/>
    <p:sldId id="270" r:id="rId13"/>
    <p:sldId id="271" r:id="rId14"/>
    <p:sldId id="272" r:id="rId15"/>
    <p:sldId id="273" r:id="rId16"/>
    <p:sldId id="274" r:id="rId17"/>
    <p:sldId id="275" r:id="rId18"/>
    <p:sldId id="264" r:id="rId19"/>
    <p:sldId id="265" r:id="rId20"/>
    <p:sldId id="266" r:id="rId21"/>
    <p:sldId id="267" r:id="rId22"/>
    <p:sldId id="268" r:id="rId23"/>
    <p:sldId id="269" r:id="rId24"/>
  </p:sldIdLst>
  <p:sldSz cx="12192000" cy="6858000"/>
  <p:notesSz cx="6858000" cy="9144000"/>
  <p:embeddedFontLst>
    <p:embeddedFont>
      <p:font typeface="Century Gothic" panose="020B0502020202020204" pitchFamily="34" charset="0"/>
      <p:regular r:id="rId26"/>
      <p:bold r:id="rId27"/>
      <p:italic r:id="rId28"/>
      <p:boldItalic r:id="rId29"/>
    </p:embeddedFont>
  </p:embeddedFontLst>
  <p:custDataLst>
    <p:tags r:id="rId30"/>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10" Type="http://schemas.openxmlformats.org/officeDocument/2006/relationships/slide" Target="slides/slide6.xml"/><Relationship Id="rId19" Type="http://schemas.openxmlformats.org/officeDocument/2006/relationships/slide" Target="slides/slide15.xml"/><Relationship Id="rId31" Type="http://customschemas.google.com/relationships/presentationmetadata" Target="meta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image" Target="../media/image4.png"/><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7" Type="http://schemas.openxmlformats.org/officeDocument/2006/relationships/image" Target="../media/image3.png"/><Relationship Id="rId1" Type="http://schemas.openxmlformats.org/officeDocument/2006/relationships/tags" Target="../tags/tag3.xml"/><Relationship Id="rId6" Type="http://schemas.openxmlformats.org/officeDocument/2006/relationships/image" Target="../media/image5.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7" Type="http://schemas.openxmlformats.org/officeDocument/2006/relationships/image" Target="../media/image4.png"/><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7" Type="http://schemas.openxmlformats.org/officeDocument/2006/relationships/image" Target="../media/image4.png"/><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7" Type="http://schemas.openxmlformats.org/officeDocument/2006/relationships/image" Target="../media/image4.png"/><Relationship Id="rId1" Type="http://schemas.openxmlformats.org/officeDocument/2006/relationships/tags" Target="../tags/tag6.xml"/><Relationship Id="rId6" Type="http://schemas.openxmlformats.org/officeDocument/2006/relationships/image" Target="../media/image3.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7" Type="http://schemas.openxmlformats.org/officeDocument/2006/relationships/image" Target="../media/image4.png"/><Relationship Id="rId1" Type="http://schemas.openxmlformats.org/officeDocument/2006/relationships/tags" Target="../tags/tag7.xml"/><Relationship Id="rId6" Type="http://schemas.openxmlformats.org/officeDocument/2006/relationships/image" Target="../media/image3.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7" Type="http://schemas.openxmlformats.org/officeDocument/2006/relationships/image" Target="../media/image4.png"/><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4.png"/><Relationship Id="rId7" Type="http://schemas.openxmlformats.org/officeDocument/2006/relationships/image" Target="../media/image6.png"/><Relationship Id="rId1" Type="http://schemas.openxmlformats.org/officeDocument/2006/relationships/tags" Target="../tags/tag9.xml"/><Relationship Id="rId6" Type="http://schemas.openxmlformats.org/officeDocument/2006/relationships/image" Target="../media/image3.png"/><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8" Type="http://schemas.openxmlformats.org/officeDocument/2006/relationships/image" Target="../media/image4.png"/><Relationship Id="rId7" Type="http://schemas.openxmlformats.org/officeDocument/2006/relationships/image" Target="../media/image3.png"/><Relationship Id="rId1" Type="http://schemas.openxmlformats.org/officeDocument/2006/relationships/tags" Target="../tags/tag10.xml"/><Relationship Id="rId6" Type="http://schemas.openxmlformats.org/officeDocument/2006/relationships/image" Target="../media/image8.png"/><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7" Type="http://schemas.openxmlformats.org/officeDocument/2006/relationships/image" Target="../media/image4.png"/><Relationship Id="rId1" Type="http://schemas.openxmlformats.org/officeDocument/2006/relationships/tags" Target="../tags/tag11.xml"/><Relationship Id="rId6" Type="http://schemas.openxmlformats.org/officeDocument/2006/relationships/image" Target="../media/image3.png"/><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7" Type="http://schemas.openxmlformats.org/officeDocument/2006/relationships/image" Target="../media/image4.png"/><Relationship Id="rId1" Type="http://schemas.openxmlformats.org/officeDocument/2006/relationships/tags" Target="../tags/tag12.xml"/><Relationship Id="rId6" Type="http://schemas.openxmlformats.org/officeDocument/2006/relationships/image" Target="../media/image3.png"/><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7" Type="http://schemas.openxmlformats.org/officeDocument/2006/relationships/image" Target="../media/image4.png"/><Relationship Id="rId1" Type="http://schemas.openxmlformats.org/officeDocument/2006/relationships/tags" Target="../tags/tag13.xml"/><Relationship Id="rId6" Type="http://schemas.openxmlformats.org/officeDocument/2006/relationships/image" Target="../media/image3.png"/><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7" Type="http://schemas.openxmlformats.org/officeDocument/2006/relationships/image" Target="../media/image4.png"/><Relationship Id="rId1" Type="http://schemas.openxmlformats.org/officeDocument/2006/relationships/tags" Target="../tags/tag14.xml"/><Relationship Id="rId6" Type="http://schemas.openxmlformats.org/officeDocument/2006/relationships/image" Target="../media/image3.pn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7" Type="http://schemas.openxmlformats.org/officeDocument/2006/relationships/image" Target="../media/image4.png"/><Relationship Id="rId1" Type="http://schemas.openxmlformats.org/officeDocument/2006/relationships/tags" Target="../tags/tag15.xml"/><Relationship Id="rId6" Type="http://schemas.openxmlformats.org/officeDocument/2006/relationships/image" Target="../media/image3.png"/><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r>
              <a:t>Green Pace</a:t>
            </a: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45720" tIns="27432" rIns="45720" bIns="27432" anchor="t" anchorCtr="0">
            <a:normAutofit/>
          </a:bodyPr>
          <a:lstStyle/>
          <a:p>
            <a:pPr marL="0" indent="0" algn="l" rtl="0">
              <a:lnSpc>
                <a:spcPct val="100000"/>
              </a:lnSpc>
              <a:spcBef>
                <a:spcPts val="0"/>
              </a:spcBef>
              <a:spcAft>
                <a:spcPts val="400"/>
              </a:spcAft>
              <a:buClr>
                <a:schemeClr val="lt1"/>
              </a:buClr>
              <a:buSzPts val="1850"/>
              <a:buNone/>
            </a:pPr>
            <a:r>
              <a:rPr sz="2000" b="0">
                <a:solidFill>
                  <a:srgbClr val="FFFFFF"/>
                </a:solidFill>
                <a:latin typeface="Arial"/>
              </a:rPr>
              <a:t>Security Policy Presentation</a:t>
            </a:r>
            <a:endParaRPr/>
          </a:p>
          <a:p>
            <a:pPr>
              <a:lnSpc>
                <a:spcPct val="100000"/>
              </a:lnSpc>
              <a:spcAft>
                <a:spcPts val="400"/>
              </a:spcAft>
            </a:pPr>
            <a:r>
              <a:rPr sz="2000" b="0">
                <a:solidFill>
                  <a:srgbClr val="FFFFFF"/>
                </a:solidFill>
                <a:latin typeface="Arial"/>
              </a:rPr>
              <a:t>Developer: Coden Polk</a:t>
            </a:r>
          </a:p>
          <a:p>
            <a:pPr>
              <a:lnSpc>
                <a:spcPct val="100000"/>
              </a:lnSpc>
              <a:spcAft>
                <a:spcPts val="400"/>
              </a:spcAft>
            </a:pPr>
            <a:r>
              <a:rPr sz="2000" b="0">
                <a:solidFill>
                  <a:srgbClr val="FFFFFF"/>
                </a:solidFill>
                <a:latin typeface="Arial"/>
              </a:rPr>
              <a:t>Project Two: Security Policy Presentation</a:t>
            </a:r>
          </a:p>
        </p:txBody>
      </p:sp>
      <p:pic>
        <p:nvPicPr>
          <p:cNvPr id="146" name="Google Shape;146;p1" descr="Green Pace logo"/>
          <p:cNvPicPr preferRelativeResize="0"/>
          <p:nvPr/>
        </p:nvPicPr>
        <p:blipFill>
          <a:blip r:embed="rId6">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4196"/>
    </mc:Choice>
    <mc:Fallback xmlns="">
      <p:transition spd="slow" advTm="4419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r>
              <a:rPr sz="3300">
                <a:solidFill>
                  <a:srgbClr val="FFFFFF"/>
                </a:solidFill>
                <a:latin typeface="Arial"/>
              </a:rPr>
              <a:t>OVERVIEW: DEFENSE IN DEPTH</a:t>
            </a:r>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6">
            <a:alphaModFix/>
          </a:blip>
          <a:srcRect/>
          <a:stretch/>
        </p:blipFill>
        <p:spPr>
          <a:xfrm>
            <a:off x="3160643" y="2839411"/>
            <a:ext cx="6453257" cy="3797196"/>
          </a:xfrm>
          <a:prstGeom prst="rect">
            <a:avLst/>
          </a:prstGeom>
          <a:noFill/>
          <a:ln>
            <a:noFill/>
          </a:ln>
        </p:spPr>
      </p:pic>
      <p:pic>
        <p:nvPicPr>
          <p:cNvPr id="154" name="Google Shape;154;p3"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sp>
        <p:nvSpPr>
          <p:cNvPr id="155" name="TextBox 154"/>
          <p:cNvSpPr txBox="1"/>
          <p:nvPr/>
        </p:nvSpPr>
        <p:spPr>
          <a:xfrm>
            <a:off x="713232" y="1664208"/>
            <a:ext cx="9646920" cy="960120"/>
          </a:xfrm>
          <a:prstGeom prst="rect">
            <a:avLst/>
          </a:prstGeom>
          <a:noFill/>
          <a:ln>
            <a:noFill/>
          </a:ln>
        </p:spPr>
        <p:txBody>
          <a:bodyPr wrap="square" lIns="73152" rIns="73152" anchor="t">
            <a:spAutoFit/>
          </a:bodyPr>
          <a:lstStyle/>
          <a:p>
            <a:pPr algn="l">
              <a:spcAft>
                <a:spcPts val="300"/>
              </a:spcAft>
            </a:pPr>
            <a:r>
              <a:rPr sz="1900" b="0">
                <a:solidFill>
                  <a:srgbClr val="FFFFFF"/>
                </a:solidFill>
                <a:latin typeface="Arial"/>
              </a:rPr>
              <a:t>One policy baseline for a growing team</a:t>
            </a:r>
          </a:p>
          <a:p>
            <a:pPr algn="l">
              <a:spcAft>
                <a:spcPts val="300"/>
              </a:spcAft>
            </a:pPr>
            <a:r>
              <a:rPr sz="1900" b="0">
                <a:solidFill>
                  <a:srgbClr val="FFFFFF"/>
                </a:solidFill>
                <a:latin typeface="Arial"/>
              </a:rPr>
              <a:t>Reduce attack surface • assume any single control can fail • protect critical assets in layers</a:t>
            </a:r>
          </a:p>
        </p:txBody>
      </p:sp>
      <p:sp>
        <p:nvSpPr>
          <p:cNvPr id="156" name="Rounded Rectangle 155"/>
          <p:cNvSpPr/>
          <p:nvPr/>
        </p:nvSpPr>
        <p:spPr>
          <a:xfrm>
            <a:off x="8732520" y="1764792"/>
            <a:ext cx="1508760" cy="384048"/>
          </a:xfrm>
          <a:prstGeom prst="roundRect">
            <a:avLst/>
          </a:prstGeom>
          <a:solidFill>
            <a:srgbClr val="719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DEFENSE IN DEPTH</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5343"/>
    </mc:Choice>
    <mc:Fallback xmlns="">
      <p:transition spd="slow" advTm="4534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r>
              <a:rPr sz="3300">
                <a:solidFill>
                  <a:srgbClr val="FFFFFF"/>
                </a:solidFill>
                <a:latin typeface="Arial"/>
              </a:rPr>
              <a:t>THREATS MATRIX</a:t>
            </a:r>
          </a:p>
        </p:txBody>
      </p:sp>
      <p:sp>
        <p:nvSpPr>
          <p:cNvPr id="160" name="Google Shape;160;p4"/>
          <p:cNvSpPr txBox="1">
            <a:spLocks noGrp="1"/>
          </p:cNvSpPr>
          <p:nvPr>
            <p:ph type="body" idx="1"/>
          </p:nvPr>
        </p:nvSpPr>
        <p:spPr>
          <a:xfrm>
            <a:off x="685800" y="2194550"/>
            <a:ext cx="2486100" cy="4024200"/>
          </a:xfrm>
          <a:prstGeom prst="rect">
            <a:avLst/>
          </a:prstGeom>
          <a:noFill/>
          <a:ln>
            <a:noFill/>
          </a:ln>
        </p:spPr>
        <p:txBody>
          <a:bodyPr spcFirstLastPara="1" wrap="square" lIns="45720" tIns="27432" rIns="45720" bIns="27432" anchor="t" anchorCtr="0">
            <a:normAutofit/>
          </a:bodyPr>
          <a:lstStyle/>
          <a:p>
            <a:pPr marL="228600" indent="0" algn="l" rtl="0">
              <a:lnSpc>
                <a:spcPct val="100000"/>
              </a:lnSpc>
              <a:spcBef>
                <a:spcPts val="0"/>
              </a:spcBef>
              <a:spcAft>
                <a:spcPts val="400"/>
              </a:spcAft>
              <a:buSzPts val="1800"/>
              <a:buNone/>
            </a:pPr>
            <a:r>
              <a:rPr sz="1700" b="0">
                <a:solidFill>
                  <a:srgbClr val="EBEBEB"/>
                </a:solidFill>
                <a:latin typeface="Arial"/>
              </a:rPr>
              <a:t>Risk is prioritized by severity + likelihood.</a:t>
            </a:r>
            <a:endParaRPr sz="2000"/>
          </a:p>
          <a:p>
            <a:pPr>
              <a:lnSpc>
                <a:spcPct val="100000"/>
              </a:lnSpc>
              <a:spcAft>
                <a:spcPts val="400"/>
              </a:spcAft>
            </a:pPr>
            <a:r>
              <a:rPr sz="1700" b="0">
                <a:solidFill>
                  <a:srgbClr val="EBEBEB"/>
                </a:solidFill>
                <a:latin typeface="Arial"/>
              </a:rPr>
              <a:t>Level 5 items are release blockers; Level 4 items require rapid remediation.</a:t>
            </a:r>
          </a:p>
        </p:txBody>
      </p:sp>
      <p:graphicFrame>
        <p:nvGraphicFramePr>
          <p:cNvPr id="161" name="Google Shape;161;p4" descr="Alt text required"/>
          <p:cNvGraphicFramePr/>
          <p:nvPr>
            <p:extLst>
              <p:ext uri="{D42A27DB-BD31-4B8C-83A1-F6EECF244321}">
                <p14:modId xmlns:p14="http://schemas.microsoft.com/office/powerpoint/2010/main" val="4404453"/>
              </p:ext>
            </p:extLst>
          </p:nvPr>
        </p:nvGraphicFramePr>
        <p:xfrm>
          <a:off x="3171900" y="2561050"/>
          <a:ext cx="7835225" cy="353865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algn="ctr"/>
                      <a:r>
                        <a:rPr sz="1900" b="1">
                          <a:solidFill>
                            <a:srgbClr val="F5C643"/>
                          </a:solidFill>
                          <a:latin typeface="Arial"/>
                        </a:rPr>
                        <a:t>LIKELY</a:t>
                      </a:r>
                    </a:p>
                    <a:p>
                      <a:pPr algn="ctr">
                        <a:spcAft>
                          <a:spcPts val="200"/>
                        </a:spcAft>
                      </a:pPr>
                      <a:r>
                        <a:rPr sz="1500" b="1">
                          <a:solidFill>
                            <a:srgbClr val="414141"/>
                          </a:solidFill>
                          <a:latin typeface="Arial"/>
                        </a:rPr>
                        <a:t>STD-007 Exceptions</a:t>
                      </a:r>
                    </a:p>
                    <a:p>
                      <a:pPr algn="ctr">
                        <a:spcAft>
                          <a:spcPts val="200"/>
                        </a:spcAft>
                      </a:pPr>
                      <a:r>
                        <a:rPr sz="1500" b="1">
                          <a:solidFill>
                            <a:srgbClr val="414141"/>
                          </a:solidFill>
                          <a:latin typeface="Arial"/>
                        </a:rPr>
                        <a:t>STD-010 Concurrency</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algn="ctr"/>
                      <a:r>
                        <a:rPr sz="1900" b="1">
                          <a:solidFill>
                            <a:srgbClr val="F5C643"/>
                          </a:solidFill>
                          <a:latin typeface="Arial"/>
                        </a:rPr>
                        <a:t>PRIORITY</a:t>
                      </a:r>
                    </a:p>
                    <a:p>
                      <a:pPr algn="ctr">
                        <a:spcAft>
                          <a:spcPts val="200"/>
                        </a:spcAft>
                      </a:pPr>
                      <a:r>
                        <a:rPr sz="1500" b="1">
                          <a:solidFill>
                            <a:srgbClr val="414141"/>
                          </a:solidFill>
                          <a:latin typeface="Arial"/>
                        </a:rPr>
                        <a:t>STD-004 SQL Injection</a:t>
                      </a:r>
                    </a:p>
                    <a:p>
                      <a:pPr algn="ctr">
                        <a:spcAft>
                          <a:spcPts val="200"/>
                        </a:spcAft>
                      </a:pPr>
                      <a:r>
                        <a:rPr sz="1500" b="1">
                          <a:solidFill>
                            <a:srgbClr val="414141"/>
                          </a:solidFill>
                          <a:latin typeface="Arial"/>
                        </a:rPr>
                        <a:t>STD-005 Memory Protection</a:t>
                      </a:r>
                    </a:p>
                    <a:p>
                      <a:pPr algn="ctr">
                        <a:spcAft>
                          <a:spcPts val="200"/>
                        </a:spcAft>
                      </a:pPr>
                      <a:r>
                        <a:rPr sz="1500" b="1">
                          <a:solidFill>
                            <a:srgbClr val="414141"/>
                          </a:solidFill>
                          <a:latin typeface="Arial"/>
                        </a:rPr>
                        <a:t>STD-008 Initialization</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algn="ctr"/>
                      <a:r>
                        <a:rPr sz="1900" b="1">
                          <a:solidFill>
                            <a:srgbClr val="F5C643"/>
                          </a:solidFill>
                          <a:latin typeface="Arial"/>
                        </a:rPr>
                        <a:t>LOW PRIORITY</a:t>
                      </a:r>
                    </a:p>
                    <a:p>
                      <a:pPr algn="ctr">
                        <a:spcAft>
                          <a:spcPts val="200"/>
                        </a:spcAft>
                      </a:pPr>
                      <a:r>
                        <a:rPr sz="1500" b="1">
                          <a:solidFill>
                            <a:srgbClr val="414141"/>
                          </a:solidFill>
                          <a:latin typeface="Arial"/>
                        </a:rPr>
                        <a:t>STD-001 Data Type</a:t>
                      </a:r>
                    </a:p>
                    <a:p>
                      <a:pPr algn="ctr">
                        <a:spcAft>
                          <a:spcPts val="200"/>
                        </a:spcAft>
                      </a:pPr>
                      <a:r>
                        <a:rPr sz="1500" b="1">
                          <a:solidFill>
                            <a:srgbClr val="414141"/>
                          </a:solidFill>
                          <a:latin typeface="Arial"/>
                        </a:rPr>
                        <a:t>STD-002 Data Value</a:t>
                      </a:r>
                    </a:p>
                    <a:p>
                      <a:pPr algn="ctr">
                        <a:spcAft>
                          <a:spcPts val="200"/>
                        </a:spcAft>
                      </a:pPr>
                      <a:r>
                        <a:rPr sz="1500" b="1">
                          <a:solidFill>
                            <a:srgbClr val="414141"/>
                          </a:solidFill>
                          <a:latin typeface="Arial"/>
                        </a:rPr>
                        <a:t>STD-006 Assertions</a:t>
                      </a:r>
                    </a:p>
                    <a:p>
                      <a:pPr algn="ctr">
                        <a:spcAft>
                          <a:spcPts val="200"/>
                        </a:spcAft>
                      </a:pPr>
                      <a:r>
                        <a:rPr sz="1500" b="1">
                          <a:solidFill>
                            <a:srgbClr val="414141"/>
                          </a:solidFill>
                          <a:latin typeface="Arial"/>
                        </a:rPr>
                        <a:t>STD-009 File I/O</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algn="ctr"/>
                      <a:r>
                        <a:rPr sz="1900" b="1">
                          <a:solidFill>
                            <a:srgbClr val="F5C643"/>
                          </a:solidFill>
                          <a:latin typeface="Arial"/>
                        </a:rPr>
                        <a:t>UNLIKELY</a:t>
                      </a:r>
                    </a:p>
                    <a:p>
                      <a:pPr algn="ctr">
                        <a:spcAft>
                          <a:spcPts val="200"/>
                        </a:spcAft>
                      </a:pPr>
                      <a:r>
                        <a:rPr sz="1500" b="1">
                          <a:solidFill>
                            <a:srgbClr val="414141"/>
                          </a:solidFill>
                          <a:latin typeface="Arial"/>
                        </a:rPr>
                        <a:t>STD-003 String Correctness</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2735"/>
    </mc:Choice>
    <mc:Fallback xmlns="">
      <p:transition spd="slow" advTm="5273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r>
              <a:rPr sz="3300">
                <a:solidFill>
                  <a:srgbClr val="FFFFFF"/>
                </a:solidFill>
                <a:latin typeface="Arial"/>
              </a:rPr>
              <a:t>10 PRINCIPLES</a:t>
            </a:r>
          </a:p>
        </p:txBody>
      </p:sp>
      <p:pic>
        <p:nvPicPr>
          <p:cNvPr id="169" name="Google Shape;169;p5"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170" name="Rounded Rectangle 169"/>
          <p:cNvSpPr/>
          <p:nvPr/>
        </p:nvSpPr>
        <p:spPr>
          <a:xfrm>
            <a:off x="731520" y="1828800"/>
            <a:ext cx="4937760" cy="3886200"/>
          </a:xfrm>
          <a:prstGeom prst="roundRect">
            <a:avLst/>
          </a:prstGeom>
          <a:solidFill>
            <a:srgbClr val="232323"/>
          </a:solidFill>
          <a:ln w="19050">
            <a:solidFill>
              <a:srgbClr val="719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TextBox 170"/>
          <p:cNvSpPr txBox="1"/>
          <p:nvPr/>
        </p:nvSpPr>
        <p:spPr>
          <a:xfrm>
            <a:off x="841248" y="1920240"/>
            <a:ext cx="4718304" cy="411480"/>
          </a:xfrm>
          <a:prstGeom prst="rect">
            <a:avLst/>
          </a:prstGeom>
          <a:noFill/>
          <a:ln>
            <a:noFill/>
          </a:ln>
        </p:spPr>
        <p:txBody>
          <a:bodyPr wrap="square" lIns="73152" rIns="73152" anchor="t">
            <a:spAutoFit/>
          </a:bodyPr>
          <a:lstStyle/>
          <a:p>
            <a:pPr algn="l">
              <a:spcAft>
                <a:spcPts val="300"/>
              </a:spcAft>
            </a:pPr>
            <a:r>
              <a:rPr sz="2100" b="1">
                <a:solidFill>
                  <a:srgbClr val="719E48"/>
                </a:solidFill>
                <a:latin typeface="Arial"/>
              </a:rPr>
              <a:t>Principles 1–5</a:t>
            </a:r>
          </a:p>
        </p:txBody>
      </p:sp>
      <p:sp>
        <p:nvSpPr>
          <p:cNvPr id="172" name="TextBox 171"/>
          <p:cNvSpPr txBox="1"/>
          <p:nvPr/>
        </p:nvSpPr>
        <p:spPr>
          <a:xfrm>
            <a:off x="841248" y="2377440"/>
            <a:ext cx="4718304" cy="3227832"/>
          </a:xfrm>
          <a:prstGeom prst="rect">
            <a:avLst/>
          </a:prstGeom>
          <a:noFill/>
          <a:ln>
            <a:noFill/>
          </a:ln>
        </p:spPr>
        <p:txBody>
          <a:bodyPr wrap="square" lIns="73152" rIns="73152" anchor="t">
            <a:spAutoFit/>
          </a:bodyPr>
          <a:lstStyle/>
          <a:p>
            <a:pPr algn="l">
              <a:spcAft>
                <a:spcPts val="300"/>
              </a:spcAft>
            </a:pPr>
            <a:r>
              <a:rPr sz="1500" b="0">
                <a:solidFill>
                  <a:srgbClr val="EBEBEB"/>
                </a:solidFill>
                <a:latin typeface="Arial"/>
              </a:rPr>
              <a:t>1. Validate Input Data — 001, 002, 003, 004</a:t>
            </a:r>
          </a:p>
          <a:p>
            <a:pPr algn="l">
              <a:spcAft>
                <a:spcPts val="300"/>
              </a:spcAft>
            </a:pPr>
            <a:r>
              <a:rPr sz="1500" b="0">
                <a:solidFill>
                  <a:srgbClr val="EBEBEB"/>
                </a:solidFill>
                <a:latin typeface="Arial"/>
              </a:rPr>
              <a:t>2. Heed Compiler Warnings — 001, 002, 005, 006, 008</a:t>
            </a:r>
          </a:p>
          <a:p>
            <a:pPr algn="l">
              <a:spcAft>
                <a:spcPts val="300"/>
              </a:spcAft>
            </a:pPr>
            <a:r>
              <a:rPr sz="1500" b="0">
                <a:solidFill>
                  <a:srgbClr val="EBEBEB"/>
                </a:solidFill>
                <a:latin typeface="Arial"/>
              </a:rPr>
              <a:t>3. Design for Security Policies — 007, 009, 010</a:t>
            </a:r>
          </a:p>
          <a:p>
            <a:pPr algn="l">
              <a:spcAft>
                <a:spcPts val="300"/>
              </a:spcAft>
            </a:pPr>
            <a:r>
              <a:rPr sz="1500" b="0">
                <a:solidFill>
                  <a:srgbClr val="EBEBEB"/>
                </a:solidFill>
                <a:latin typeface="Arial"/>
              </a:rPr>
              <a:t>4. Keep It Simple — 003, 005, 006, 007, 008, 009, 010</a:t>
            </a:r>
          </a:p>
          <a:p>
            <a:pPr algn="l">
              <a:spcAft>
                <a:spcPts val="300"/>
              </a:spcAft>
            </a:pPr>
            <a:r>
              <a:rPr sz="1500" b="0">
                <a:solidFill>
                  <a:srgbClr val="EBEBEB"/>
                </a:solidFill>
                <a:latin typeface="Arial"/>
              </a:rPr>
              <a:t>5. Default Deny — 004</a:t>
            </a:r>
          </a:p>
        </p:txBody>
      </p:sp>
      <p:sp>
        <p:nvSpPr>
          <p:cNvPr id="173" name="Rounded Rectangle 172"/>
          <p:cNvSpPr/>
          <p:nvPr/>
        </p:nvSpPr>
        <p:spPr>
          <a:xfrm>
            <a:off x="5806440" y="1828800"/>
            <a:ext cx="4937760" cy="3886200"/>
          </a:xfrm>
          <a:prstGeom prst="roundRect">
            <a:avLst/>
          </a:prstGeom>
          <a:solidFill>
            <a:srgbClr val="232323"/>
          </a:solidFill>
          <a:ln w="19050">
            <a:solidFill>
              <a:srgbClr val="F5C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TextBox 173"/>
          <p:cNvSpPr txBox="1"/>
          <p:nvPr/>
        </p:nvSpPr>
        <p:spPr>
          <a:xfrm>
            <a:off x="5916168" y="1920240"/>
            <a:ext cx="4718304" cy="411480"/>
          </a:xfrm>
          <a:prstGeom prst="rect">
            <a:avLst/>
          </a:prstGeom>
          <a:noFill/>
          <a:ln>
            <a:noFill/>
          </a:ln>
        </p:spPr>
        <p:txBody>
          <a:bodyPr wrap="square" lIns="73152" rIns="73152" anchor="t">
            <a:spAutoFit/>
          </a:bodyPr>
          <a:lstStyle/>
          <a:p>
            <a:pPr algn="l">
              <a:spcAft>
                <a:spcPts val="300"/>
              </a:spcAft>
            </a:pPr>
            <a:r>
              <a:rPr sz="2100" b="1">
                <a:solidFill>
                  <a:srgbClr val="F5C643"/>
                </a:solidFill>
                <a:latin typeface="Arial"/>
              </a:rPr>
              <a:t>Principles 6–10</a:t>
            </a:r>
          </a:p>
        </p:txBody>
      </p:sp>
      <p:sp>
        <p:nvSpPr>
          <p:cNvPr id="175" name="TextBox 174"/>
          <p:cNvSpPr txBox="1"/>
          <p:nvPr/>
        </p:nvSpPr>
        <p:spPr>
          <a:xfrm>
            <a:off x="5916168" y="2377440"/>
            <a:ext cx="4718304" cy="3227832"/>
          </a:xfrm>
          <a:prstGeom prst="rect">
            <a:avLst/>
          </a:prstGeom>
          <a:noFill/>
          <a:ln>
            <a:noFill/>
          </a:ln>
        </p:spPr>
        <p:txBody>
          <a:bodyPr wrap="square" lIns="73152" rIns="73152" anchor="t">
            <a:spAutoFit/>
          </a:bodyPr>
          <a:lstStyle/>
          <a:p>
            <a:pPr algn="l">
              <a:spcAft>
                <a:spcPts val="300"/>
              </a:spcAft>
            </a:pPr>
            <a:r>
              <a:rPr sz="1500" b="0">
                <a:solidFill>
                  <a:srgbClr val="EBEBEB"/>
                </a:solidFill>
                <a:latin typeface="Arial"/>
              </a:rPr>
              <a:t>6. Least Privilege — 004, 009</a:t>
            </a:r>
          </a:p>
          <a:p>
            <a:pPr algn="l">
              <a:spcAft>
                <a:spcPts val="300"/>
              </a:spcAft>
            </a:pPr>
            <a:r>
              <a:rPr sz="1500" b="0">
                <a:solidFill>
                  <a:srgbClr val="EBEBEB"/>
                </a:solidFill>
                <a:latin typeface="Arial"/>
              </a:rPr>
              <a:t>7. Sanitize Data Sent to Other Systems — 004</a:t>
            </a:r>
          </a:p>
          <a:p>
            <a:pPr algn="l">
              <a:spcAft>
                <a:spcPts val="300"/>
              </a:spcAft>
            </a:pPr>
            <a:r>
              <a:rPr sz="1500" b="0">
                <a:solidFill>
                  <a:srgbClr val="EBEBEB"/>
                </a:solidFill>
                <a:latin typeface="Arial"/>
              </a:rPr>
              <a:t>8. Defense in Depth — 003, 004, 005, 007, 008, 009, 010</a:t>
            </a:r>
          </a:p>
          <a:p>
            <a:pPr algn="l">
              <a:spcAft>
                <a:spcPts val="300"/>
              </a:spcAft>
            </a:pPr>
            <a:r>
              <a:rPr sz="1500" b="0">
                <a:solidFill>
                  <a:srgbClr val="EBEBEB"/>
                </a:solidFill>
                <a:latin typeface="Arial"/>
              </a:rPr>
              <a:t>9. Effective QA — 001–010</a:t>
            </a:r>
          </a:p>
          <a:p>
            <a:pPr algn="l">
              <a:spcAft>
                <a:spcPts val="300"/>
              </a:spcAft>
            </a:pPr>
            <a:r>
              <a:rPr sz="1500" b="0">
                <a:solidFill>
                  <a:srgbClr val="EBEBEB"/>
                </a:solidFill>
                <a:latin typeface="Arial"/>
              </a:rPr>
              <a:t>10. Secure Coding Standard — 001–010</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4487"/>
    </mc:Choice>
    <mc:Fallback xmlns="">
      <p:transition spd="slow" advTm="5448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r>
              <a:rPr sz="3300">
                <a:solidFill>
                  <a:srgbClr val="FFFFFF"/>
                </a:solidFill>
                <a:latin typeface="Arial"/>
              </a:rPr>
              <a:t>CODING STANDARDS</a:t>
            </a:r>
          </a:p>
        </p:txBody>
      </p:sp>
      <p:pic>
        <p:nvPicPr>
          <p:cNvPr id="176" name="Google Shape;176;p6"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177" name="Rounded Rectangle 176"/>
          <p:cNvSpPr/>
          <p:nvPr/>
        </p:nvSpPr>
        <p:spPr>
          <a:xfrm>
            <a:off x="713232" y="1783080"/>
            <a:ext cx="3291840" cy="3611880"/>
          </a:xfrm>
          <a:prstGeom prst="roundRect">
            <a:avLst/>
          </a:prstGeom>
          <a:solidFill>
            <a:srgbClr val="232323"/>
          </a:solidFill>
          <a:ln w="19050">
            <a:solidFill>
              <a:srgbClr val="C543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TextBox 177"/>
          <p:cNvSpPr txBox="1"/>
          <p:nvPr/>
        </p:nvSpPr>
        <p:spPr>
          <a:xfrm>
            <a:off x="822960" y="1874520"/>
            <a:ext cx="3072384" cy="411480"/>
          </a:xfrm>
          <a:prstGeom prst="rect">
            <a:avLst/>
          </a:prstGeom>
          <a:noFill/>
          <a:ln>
            <a:noFill/>
          </a:ln>
        </p:spPr>
        <p:txBody>
          <a:bodyPr wrap="square" lIns="73152" rIns="73152" anchor="t">
            <a:spAutoFit/>
          </a:bodyPr>
          <a:lstStyle/>
          <a:p>
            <a:r>
              <a:rPr sz="1800"/>
              <a:t>LEVEL 5 — CRITICAL</a:t>
            </a:r>
          </a:p>
        </p:txBody>
      </p:sp>
      <p:sp>
        <p:nvSpPr>
          <p:cNvPr id="179" name="TextBox 178"/>
          <p:cNvSpPr txBox="1"/>
          <p:nvPr/>
        </p:nvSpPr>
        <p:spPr>
          <a:xfrm>
            <a:off x="822960" y="2331720"/>
            <a:ext cx="3072384" cy="2953512"/>
          </a:xfrm>
          <a:prstGeom prst="rect">
            <a:avLst/>
          </a:prstGeom>
          <a:noFill/>
          <a:ln>
            <a:noFill/>
          </a:ln>
        </p:spPr>
        <p:txBody>
          <a:bodyPr wrap="square" lIns="73152" rIns="73152" anchor="t">
            <a:spAutoFit/>
          </a:bodyPr>
          <a:lstStyle/>
          <a:p>
            <a:pPr algn="l">
              <a:spcAft>
                <a:spcPts val="300"/>
              </a:spcAft>
            </a:pPr>
            <a:r>
              <a:rPr sz="1700" b="0">
                <a:solidFill>
                  <a:srgbClr val="EBEBEB"/>
                </a:solidFill>
                <a:latin typeface="Arial"/>
              </a:rPr>
              <a:t>STD-004 SQL Injection</a:t>
            </a:r>
          </a:p>
          <a:p>
            <a:pPr algn="l">
              <a:spcAft>
                <a:spcPts val="300"/>
              </a:spcAft>
            </a:pPr>
            <a:r>
              <a:rPr sz="1700" b="0">
                <a:solidFill>
                  <a:srgbClr val="EBEBEB"/>
                </a:solidFill>
                <a:latin typeface="Arial"/>
              </a:rPr>
              <a:t>STD-005 Memory Protection</a:t>
            </a:r>
          </a:p>
          <a:p>
            <a:pPr algn="l">
              <a:spcAft>
                <a:spcPts val="300"/>
              </a:spcAft>
            </a:pPr>
            <a:r>
              <a:rPr sz="1700" b="0">
                <a:solidFill>
                  <a:srgbClr val="EBEBEB"/>
                </a:solidFill>
                <a:latin typeface="Arial"/>
              </a:rPr>
              <a:t>STD-008 Initialization</a:t>
            </a:r>
          </a:p>
          <a:p>
            <a:pPr algn="l">
              <a:spcAft>
                <a:spcPts val="300"/>
              </a:spcAft>
            </a:pPr>
            <a:endParaRPr sz="1700" b="0">
              <a:solidFill>
                <a:srgbClr val="EBEBEB"/>
              </a:solidFill>
              <a:latin typeface="Arial"/>
            </a:endParaRPr>
          </a:p>
          <a:p>
            <a:pPr algn="l">
              <a:spcAft>
                <a:spcPts val="300"/>
              </a:spcAft>
            </a:pPr>
            <a:r>
              <a:rPr sz="1700" b="0">
                <a:solidFill>
                  <a:srgbClr val="EBEBEB"/>
                </a:solidFill>
                <a:latin typeface="Arial"/>
              </a:rPr>
              <a:t>High impact + likely exploitation or failure.</a:t>
            </a:r>
          </a:p>
        </p:txBody>
      </p:sp>
      <p:sp>
        <p:nvSpPr>
          <p:cNvPr id="180" name="Rounded Rectangle 179"/>
          <p:cNvSpPr/>
          <p:nvPr/>
        </p:nvSpPr>
        <p:spPr>
          <a:xfrm>
            <a:off x="4160520" y="1783080"/>
            <a:ext cx="3291840" cy="3611880"/>
          </a:xfrm>
          <a:prstGeom prst="roundRect">
            <a:avLst/>
          </a:prstGeom>
          <a:solidFill>
            <a:srgbClr val="232323"/>
          </a:solidFill>
          <a:ln w="19050">
            <a:solidFill>
              <a:srgbClr val="E17E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TextBox 180"/>
          <p:cNvSpPr txBox="1"/>
          <p:nvPr/>
        </p:nvSpPr>
        <p:spPr>
          <a:xfrm>
            <a:off x="4270248" y="1874520"/>
            <a:ext cx="3072384" cy="411480"/>
          </a:xfrm>
          <a:prstGeom prst="rect">
            <a:avLst/>
          </a:prstGeom>
          <a:noFill/>
          <a:ln>
            <a:noFill/>
          </a:ln>
        </p:spPr>
        <p:txBody>
          <a:bodyPr wrap="square" lIns="73152" rIns="73152" anchor="t">
            <a:spAutoFit/>
          </a:bodyPr>
          <a:lstStyle/>
          <a:p>
            <a:r>
              <a:rPr sz="1800"/>
              <a:t>LEVEL 4 — HIGH</a:t>
            </a:r>
          </a:p>
        </p:txBody>
      </p:sp>
      <p:sp>
        <p:nvSpPr>
          <p:cNvPr id="182" name="TextBox 181"/>
          <p:cNvSpPr txBox="1"/>
          <p:nvPr/>
        </p:nvSpPr>
        <p:spPr>
          <a:xfrm>
            <a:off x="4270248" y="2331720"/>
            <a:ext cx="3072384" cy="2953512"/>
          </a:xfrm>
          <a:prstGeom prst="rect">
            <a:avLst/>
          </a:prstGeom>
          <a:noFill/>
          <a:ln>
            <a:noFill/>
          </a:ln>
        </p:spPr>
        <p:txBody>
          <a:bodyPr wrap="square" lIns="73152" rIns="73152" anchor="t">
            <a:spAutoFit/>
          </a:bodyPr>
          <a:lstStyle/>
          <a:p>
            <a:pPr algn="l">
              <a:spcAft>
                <a:spcPts val="300"/>
              </a:spcAft>
            </a:pPr>
            <a:r>
              <a:rPr sz="1700" b="0">
                <a:solidFill>
                  <a:srgbClr val="EBEBEB"/>
                </a:solidFill>
                <a:latin typeface="Arial"/>
              </a:rPr>
              <a:t>STD-003 String Correctness</a:t>
            </a:r>
          </a:p>
          <a:p>
            <a:pPr algn="l">
              <a:spcAft>
                <a:spcPts val="300"/>
              </a:spcAft>
            </a:pPr>
            <a:r>
              <a:rPr sz="1700" b="0">
                <a:solidFill>
                  <a:srgbClr val="EBEBEB"/>
                </a:solidFill>
                <a:latin typeface="Arial"/>
              </a:rPr>
              <a:t>STD-007 Exceptions</a:t>
            </a:r>
          </a:p>
          <a:p>
            <a:pPr algn="l">
              <a:spcAft>
                <a:spcPts val="300"/>
              </a:spcAft>
            </a:pPr>
            <a:r>
              <a:rPr sz="1700" b="0">
                <a:solidFill>
                  <a:srgbClr val="EBEBEB"/>
                </a:solidFill>
                <a:latin typeface="Arial"/>
              </a:rPr>
              <a:t>STD-010 Concurrency</a:t>
            </a:r>
          </a:p>
          <a:p>
            <a:pPr algn="l">
              <a:spcAft>
                <a:spcPts val="300"/>
              </a:spcAft>
            </a:pPr>
            <a:endParaRPr sz="1700" b="0">
              <a:solidFill>
                <a:srgbClr val="EBEBEB"/>
              </a:solidFill>
              <a:latin typeface="Arial"/>
            </a:endParaRPr>
          </a:p>
          <a:p>
            <a:pPr algn="l">
              <a:spcAft>
                <a:spcPts val="300"/>
              </a:spcAft>
            </a:pPr>
            <a:r>
              <a:rPr sz="1700" b="0">
                <a:solidFill>
                  <a:srgbClr val="EBEBEB"/>
                </a:solidFill>
                <a:latin typeface="Arial"/>
              </a:rPr>
              <a:t>Serious impact, but lower likelihood or scope.</a:t>
            </a:r>
          </a:p>
        </p:txBody>
      </p:sp>
      <p:sp>
        <p:nvSpPr>
          <p:cNvPr id="183" name="Rounded Rectangle 182"/>
          <p:cNvSpPr/>
          <p:nvPr/>
        </p:nvSpPr>
        <p:spPr>
          <a:xfrm>
            <a:off x="7607808" y="1783080"/>
            <a:ext cx="3291840" cy="3611880"/>
          </a:xfrm>
          <a:prstGeom prst="roundRect">
            <a:avLst/>
          </a:prstGeom>
          <a:solidFill>
            <a:srgbClr val="232323"/>
          </a:solidFill>
          <a:ln w="19050">
            <a:solidFill>
              <a:srgbClr val="719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183"/>
          <p:cNvSpPr txBox="1"/>
          <p:nvPr/>
        </p:nvSpPr>
        <p:spPr>
          <a:xfrm>
            <a:off x="7717536" y="1874520"/>
            <a:ext cx="3072384" cy="411480"/>
          </a:xfrm>
          <a:prstGeom prst="rect">
            <a:avLst/>
          </a:prstGeom>
          <a:noFill/>
          <a:ln>
            <a:noFill/>
          </a:ln>
        </p:spPr>
        <p:txBody>
          <a:bodyPr wrap="square" lIns="73152" rIns="73152" anchor="t">
            <a:spAutoFit/>
          </a:bodyPr>
          <a:lstStyle/>
          <a:p>
            <a:r>
              <a:rPr sz="1800"/>
              <a:t>LEVEL 2 — PLANNED</a:t>
            </a:r>
          </a:p>
        </p:txBody>
      </p:sp>
      <p:sp>
        <p:nvSpPr>
          <p:cNvPr id="185" name="TextBox 184"/>
          <p:cNvSpPr txBox="1"/>
          <p:nvPr/>
        </p:nvSpPr>
        <p:spPr>
          <a:xfrm>
            <a:off x="7717536" y="2331720"/>
            <a:ext cx="3072384" cy="2953512"/>
          </a:xfrm>
          <a:prstGeom prst="rect">
            <a:avLst/>
          </a:prstGeom>
          <a:noFill/>
          <a:ln>
            <a:noFill/>
          </a:ln>
        </p:spPr>
        <p:txBody>
          <a:bodyPr wrap="square" lIns="73152" rIns="73152" anchor="t">
            <a:spAutoFit/>
          </a:bodyPr>
          <a:lstStyle/>
          <a:p>
            <a:pPr algn="l">
              <a:spcAft>
                <a:spcPts val="300"/>
              </a:spcAft>
            </a:pPr>
            <a:r>
              <a:rPr sz="1600" b="0">
                <a:solidFill>
                  <a:srgbClr val="EBEBEB"/>
                </a:solidFill>
                <a:latin typeface="Arial"/>
              </a:rPr>
              <a:t>STD-001 Data Type</a:t>
            </a:r>
          </a:p>
          <a:p>
            <a:pPr algn="l">
              <a:spcAft>
                <a:spcPts val="300"/>
              </a:spcAft>
            </a:pPr>
            <a:r>
              <a:rPr sz="1600" b="0">
                <a:solidFill>
                  <a:srgbClr val="EBEBEB"/>
                </a:solidFill>
                <a:latin typeface="Arial"/>
              </a:rPr>
              <a:t>STD-002 Data Value</a:t>
            </a:r>
          </a:p>
          <a:p>
            <a:pPr algn="l">
              <a:spcAft>
                <a:spcPts val="300"/>
              </a:spcAft>
            </a:pPr>
            <a:r>
              <a:rPr sz="1600" b="0">
                <a:solidFill>
                  <a:srgbClr val="EBEBEB"/>
                </a:solidFill>
                <a:latin typeface="Arial"/>
              </a:rPr>
              <a:t>STD-006 Assertions</a:t>
            </a:r>
          </a:p>
          <a:p>
            <a:pPr algn="l">
              <a:spcAft>
                <a:spcPts val="300"/>
              </a:spcAft>
            </a:pPr>
            <a:r>
              <a:rPr sz="1600" b="0">
                <a:solidFill>
                  <a:srgbClr val="EBEBEB"/>
                </a:solidFill>
                <a:latin typeface="Arial"/>
              </a:rPr>
              <a:t>STD-009 File I/O</a:t>
            </a:r>
          </a:p>
          <a:p>
            <a:pPr algn="l">
              <a:spcAft>
                <a:spcPts val="300"/>
              </a:spcAft>
            </a:pPr>
            <a:endParaRPr sz="1600" b="0">
              <a:solidFill>
                <a:srgbClr val="EBEBEB"/>
              </a:solidFill>
              <a:latin typeface="Arial"/>
            </a:endParaRPr>
          </a:p>
          <a:p>
            <a:pPr algn="l">
              <a:spcAft>
                <a:spcPts val="300"/>
              </a:spcAft>
            </a:pPr>
            <a:r>
              <a:rPr sz="1600" b="0">
                <a:solidFill>
                  <a:srgbClr val="EBEBEB"/>
                </a:solidFill>
                <a:latin typeface="Arial"/>
              </a:rPr>
              <a:t>Lower immediate threat, still enforced.</a:t>
            </a:r>
          </a:p>
        </p:txBody>
      </p:sp>
      <p:sp>
        <p:nvSpPr>
          <p:cNvPr id="186" name="TextBox 185"/>
          <p:cNvSpPr txBox="1"/>
          <p:nvPr/>
        </p:nvSpPr>
        <p:spPr>
          <a:xfrm>
            <a:off x="822960" y="5504688"/>
            <a:ext cx="9692640" cy="457200"/>
          </a:xfrm>
          <a:prstGeom prst="rect">
            <a:avLst/>
          </a:prstGeom>
          <a:noFill/>
          <a:ln>
            <a:noFill/>
          </a:ln>
        </p:spPr>
        <p:txBody>
          <a:bodyPr wrap="square" lIns="73152" rIns="73152" anchor="t">
            <a:spAutoFit/>
          </a:bodyPr>
          <a:lstStyle/>
          <a:p>
            <a:pPr algn="l">
              <a:spcAft>
                <a:spcPts val="300"/>
              </a:spcAft>
            </a:pPr>
            <a:r>
              <a:rPr sz="1600" b="0">
                <a:solidFill>
                  <a:srgbClr val="BEBEBE"/>
                </a:solidFill>
                <a:latin typeface="Arial"/>
              </a:rPr>
              <a:t>Ranking uses severity, likelihood, exploitability, availability/data impact, and remediation cost.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5242"/>
    </mc:Choice>
    <mc:Fallback xmlns="">
      <p:transition spd="slow" advTm="5524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r>
              <a:rPr sz="3300">
                <a:solidFill>
                  <a:srgbClr val="FFFFFF"/>
                </a:solidFill>
                <a:latin typeface="Arial"/>
              </a:rPr>
              <a:t>ENCRYPTION POLICIES</a:t>
            </a:r>
          </a:p>
        </p:txBody>
      </p:sp>
      <p:pic>
        <p:nvPicPr>
          <p:cNvPr id="183" name="Google Shape;183;p7"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184" name="Rounded Rectangle 183"/>
          <p:cNvSpPr/>
          <p:nvPr/>
        </p:nvSpPr>
        <p:spPr>
          <a:xfrm>
            <a:off x="685800" y="1874519"/>
            <a:ext cx="3246120" cy="3291840"/>
          </a:xfrm>
          <a:prstGeom prst="roundRect">
            <a:avLst/>
          </a:prstGeom>
          <a:solidFill>
            <a:srgbClr val="232323"/>
          </a:solidFill>
          <a:ln w="19050">
            <a:solidFill>
              <a:srgbClr val="4989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TextBox 184"/>
          <p:cNvSpPr txBox="1"/>
          <p:nvPr/>
        </p:nvSpPr>
        <p:spPr>
          <a:xfrm>
            <a:off x="795528" y="1965959"/>
            <a:ext cx="3026664" cy="411480"/>
          </a:xfrm>
          <a:prstGeom prst="rect">
            <a:avLst/>
          </a:prstGeom>
          <a:noFill/>
          <a:ln>
            <a:noFill/>
          </a:ln>
        </p:spPr>
        <p:txBody>
          <a:bodyPr wrap="square" lIns="73152" rIns="73152" anchor="t">
            <a:spAutoFit/>
          </a:bodyPr>
          <a:lstStyle/>
          <a:p>
            <a:pPr algn="l">
              <a:spcAft>
                <a:spcPts val="300"/>
              </a:spcAft>
            </a:pPr>
            <a:r>
              <a:rPr sz="2100" b="1">
                <a:solidFill>
                  <a:srgbClr val="4989B8"/>
                </a:solidFill>
                <a:latin typeface="Arial"/>
              </a:rPr>
              <a:t>AT REST</a:t>
            </a:r>
          </a:p>
        </p:txBody>
      </p:sp>
      <p:sp>
        <p:nvSpPr>
          <p:cNvPr id="186" name="TextBox 185"/>
          <p:cNvSpPr txBox="1"/>
          <p:nvPr/>
        </p:nvSpPr>
        <p:spPr>
          <a:xfrm>
            <a:off x="795528" y="2423159"/>
            <a:ext cx="3026664" cy="2633472"/>
          </a:xfrm>
          <a:prstGeom prst="rect">
            <a:avLst/>
          </a:prstGeom>
          <a:noFill/>
          <a:ln>
            <a:noFill/>
          </a:ln>
        </p:spPr>
        <p:txBody>
          <a:bodyPr wrap="square" lIns="73152" rIns="73152" anchor="t">
            <a:spAutoFit/>
          </a:bodyPr>
          <a:lstStyle/>
          <a:p>
            <a:pPr algn="l">
              <a:spcAft>
                <a:spcPts val="300"/>
              </a:spcAft>
            </a:pPr>
            <a:r>
              <a:rPr sz="1800" b="0">
                <a:solidFill>
                  <a:srgbClr val="EBEBEB"/>
                </a:solidFill>
                <a:latin typeface="Arial"/>
              </a:rPr>
              <a:t>Encrypt stored databases, backups, disks, and sensitive files.</a:t>
            </a:r>
          </a:p>
          <a:p>
            <a:pPr algn="l">
              <a:spcAft>
                <a:spcPts val="300"/>
              </a:spcAft>
            </a:pPr>
            <a:endParaRPr sz="1800" b="0">
              <a:solidFill>
                <a:srgbClr val="EBEBEB"/>
              </a:solidFill>
              <a:latin typeface="Arial"/>
            </a:endParaRPr>
          </a:p>
          <a:p>
            <a:pPr algn="l">
              <a:spcAft>
                <a:spcPts val="300"/>
              </a:spcAft>
            </a:pPr>
            <a:r>
              <a:rPr sz="1800" b="0">
                <a:solidFill>
                  <a:srgbClr val="EBEBEB"/>
                </a:solidFill>
                <a:latin typeface="Arial"/>
              </a:rPr>
              <a:t>Use approved strong encryption and managed keys; never hard-code keys.</a:t>
            </a:r>
          </a:p>
        </p:txBody>
      </p:sp>
      <p:sp>
        <p:nvSpPr>
          <p:cNvPr id="187" name="Rounded Rectangle 186"/>
          <p:cNvSpPr/>
          <p:nvPr/>
        </p:nvSpPr>
        <p:spPr>
          <a:xfrm>
            <a:off x="4050791" y="1874519"/>
            <a:ext cx="3246120" cy="3291840"/>
          </a:xfrm>
          <a:prstGeom prst="roundRect">
            <a:avLst/>
          </a:prstGeom>
          <a:solidFill>
            <a:srgbClr val="232323"/>
          </a:solidFill>
          <a:ln w="19050">
            <a:solidFill>
              <a:srgbClr val="719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TextBox 187"/>
          <p:cNvSpPr txBox="1"/>
          <p:nvPr/>
        </p:nvSpPr>
        <p:spPr>
          <a:xfrm>
            <a:off x="4160519" y="1965959"/>
            <a:ext cx="3026664" cy="411480"/>
          </a:xfrm>
          <a:prstGeom prst="rect">
            <a:avLst/>
          </a:prstGeom>
          <a:noFill/>
          <a:ln>
            <a:noFill/>
          </a:ln>
        </p:spPr>
        <p:txBody>
          <a:bodyPr wrap="square" lIns="73152" rIns="73152" anchor="t">
            <a:spAutoFit/>
          </a:bodyPr>
          <a:lstStyle/>
          <a:p>
            <a:pPr algn="l">
              <a:spcAft>
                <a:spcPts val="300"/>
              </a:spcAft>
            </a:pPr>
            <a:r>
              <a:rPr sz="2100" b="1">
                <a:solidFill>
                  <a:srgbClr val="719E48"/>
                </a:solidFill>
                <a:latin typeface="Arial"/>
              </a:rPr>
              <a:t>IN FLIGHT</a:t>
            </a:r>
          </a:p>
        </p:txBody>
      </p:sp>
      <p:sp>
        <p:nvSpPr>
          <p:cNvPr id="189" name="TextBox 188"/>
          <p:cNvSpPr txBox="1"/>
          <p:nvPr/>
        </p:nvSpPr>
        <p:spPr>
          <a:xfrm>
            <a:off x="4160519" y="2423159"/>
            <a:ext cx="3026664" cy="2633472"/>
          </a:xfrm>
          <a:prstGeom prst="rect">
            <a:avLst/>
          </a:prstGeom>
          <a:noFill/>
          <a:ln>
            <a:noFill/>
          </a:ln>
        </p:spPr>
        <p:txBody>
          <a:bodyPr wrap="square" lIns="73152" rIns="73152" anchor="t">
            <a:spAutoFit/>
          </a:bodyPr>
          <a:lstStyle/>
          <a:p>
            <a:pPr algn="l">
              <a:spcAft>
                <a:spcPts val="300"/>
              </a:spcAft>
            </a:pPr>
            <a:r>
              <a:rPr sz="1800" b="0">
                <a:solidFill>
                  <a:srgbClr val="EBEBEB"/>
                </a:solidFill>
                <a:latin typeface="Arial"/>
              </a:rPr>
              <a:t>Protect data crossing processes, hosts, APIs, and networks.</a:t>
            </a:r>
          </a:p>
          <a:p>
            <a:pPr algn="l">
              <a:spcAft>
                <a:spcPts val="300"/>
              </a:spcAft>
            </a:pPr>
            <a:endParaRPr sz="1800" b="0">
              <a:solidFill>
                <a:srgbClr val="EBEBEB"/>
              </a:solidFill>
              <a:latin typeface="Arial"/>
            </a:endParaRPr>
          </a:p>
          <a:p>
            <a:pPr algn="l">
              <a:spcAft>
                <a:spcPts val="300"/>
              </a:spcAft>
            </a:pPr>
            <a:r>
              <a:rPr sz="1800" b="0">
                <a:solidFill>
                  <a:srgbClr val="EBEBEB"/>
                </a:solidFill>
                <a:latin typeface="Arial"/>
              </a:rPr>
              <a:t>Require authenticated TLS; certificate validation stays enabled.</a:t>
            </a:r>
          </a:p>
        </p:txBody>
      </p:sp>
      <p:sp>
        <p:nvSpPr>
          <p:cNvPr id="190" name="Rounded Rectangle 189"/>
          <p:cNvSpPr/>
          <p:nvPr/>
        </p:nvSpPr>
        <p:spPr>
          <a:xfrm>
            <a:off x="7406640" y="1874519"/>
            <a:ext cx="3246120" cy="3291840"/>
          </a:xfrm>
          <a:prstGeom prst="roundRect">
            <a:avLst/>
          </a:prstGeom>
          <a:solidFill>
            <a:srgbClr val="232323"/>
          </a:solidFill>
          <a:ln w="19050">
            <a:solidFill>
              <a:srgbClr val="F5C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TextBox 190"/>
          <p:cNvSpPr txBox="1"/>
          <p:nvPr/>
        </p:nvSpPr>
        <p:spPr>
          <a:xfrm>
            <a:off x="7516368" y="1965959"/>
            <a:ext cx="3026664" cy="411480"/>
          </a:xfrm>
          <a:prstGeom prst="rect">
            <a:avLst/>
          </a:prstGeom>
          <a:noFill/>
          <a:ln>
            <a:noFill/>
          </a:ln>
        </p:spPr>
        <p:txBody>
          <a:bodyPr wrap="square" lIns="73152" rIns="73152" anchor="t">
            <a:spAutoFit/>
          </a:bodyPr>
          <a:lstStyle/>
          <a:p>
            <a:pPr algn="l">
              <a:spcAft>
                <a:spcPts val="300"/>
              </a:spcAft>
            </a:pPr>
            <a:r>
              <a:rPr sz="2100" b="1">
                <a:solidFill>
                  <a:srgbClr val="F5C643"/>
                </a:solidFill>
                <a:latin typeface="Arial"/>
              </a:rPr>
              <a:t>IN USE</a:t>
            </a:r>
          </a:p>
        </p:txBody>
      </p:sp>
      <p:sp>
        <p:nvSpPr>
          <p:cNvPr id="192" name="TextBox 191"/>
          <p:cNvSpPr txBox="1"/>
          <p:nvPr/>
        </p:nvSpPr>
        <p:spPr>
          <a:xfrm>
            <a:off x="7516368" y="2423159"/>
            <a:ext cx="3026664" cy="2633472"/>
          </a:xfrm>
          <a:prstGeom prst="rect">
            <a:avLst/>
          </a:prstGeom>
          <a:noFill/>
          <a:ln>
            <a:noFill/>
          </a:ln>
        </p:spPr>
        <p:txBody>
          <a:bodyPr wrap="square" lIns="73152" rIns="73152" anchor="t">
            <a:spAutoFit/>
          </a:bodyPr>
          <a:lstStyle/>
          <a:p>
            <a:pPr algn="l">
              <a:spcAft>
                <a:spcPts val="300"/>
              </a:spcAft>
            </a:pPr>
            <a:r>
              <a:rPr sz="1700" b="0">
                <a:solidFill>
                  <a:srgbClr val="EBEBEB"/>
                </a:solidFill>
                <a:latin typeface="Arial"/>
              </a:rPr>
              <a:t>Minimize plaintext lifetime in memory.</a:t>
            </a:r>
          </a:p>
          <a:p>
            <a:pPr algn="l">
              <a:spcAft>
                <a:spcPts val="300"/>
              </a:spcAft>
            </a:pPr>
            <a:endParaRPr sz="1700" b="0">
              <a:solidFill>
                <a:srgbClr val="EBEBEB"/>
              </a:solidFill>
              <a:latin typeface="Arial"/>
            </a:endParaRPr>
          </a:p>
          <a:p>
            <a:pPr algn="l">
              <a:spcAft>
                <a:spcPts val="300"/>
              </a:spcAft>
            </a:pPr>
            <a:r>
              <a:rPr sz="1700" b="0">
                <a:solidFill>
                  <a:srgbClr val="EBEBEB"/>
                </a:solidFill>
                <a:latin typeface="Arial"/>
              </a:rPr>
              <a:t>Restrict process access, avoid needless copies, and use protected-memory options for highly sensitive workloads.</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9987"/>
    </mc:Choice>
    <mc:Fallback xmlns="">
      <p:transition spd="slow" advTm="6998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r>
              <a:rPr sz="3300">
                <a:solidFill>
                  <a:srgbClr val="FFFFFF"/>
                </a:solidFill>
                <a:latin typeface="Arial"/>
              </a:rPr>
              <a:t>TRIPLE-A POLICIES</a:t>
            </a: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400"/>
              <a:buChar char="•"/>
            </a:pPr>
            <a:endParaRPr/>
          </a:p>
        </p:txBody>
      </p:sp>
      <p:pic>
        <p:nvPicPr>
          <p:cNvPr id="190" name="Google Shape;190;p8"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191" name="Rounded Rectangle 190"/>
          <p:cNvSpPr/>
          <p:nvPr/>
        </p:nvSpPr>
        <p:spPr>
          <a:xfrm>
            <a:off x="685800" y="1828800"/>
            <a:ext cx="3246120" cy="3566160"/>
          </a:xfrm>
          <a:prstGeom prst="roundRect">
            <a:avLst/>
          </a:prstGeom>
          <a:solidFill>
            <a:srgbClr val="232323"/>
          </a:solidFill>
          <a:ln w="19050">
            <a:solidFill>
              <a:srgbClr val="719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191"/>
          <p:cNvSpPr txBox="1"/>
          <p:nvPr/>
        </p:nvSpPr>
        <p:spPr>
          <a:xfrm>
            <a:off x="795528" y="1920240"/>
            <a:ext cx="3026664" cy="411480"/>
          </a:xfrm>
          <a:prstGeom prst="rect">
            <a:avLst/>
          </a:prstGeom>
          <a:noFill/>
          <a:ln>
            <a:noFill/>
          </a:ln>
        </p:spPr>
        <p:txBody>
          <a:bodyPr wrap="square" lIns="73152" rIns="73152" anchor="t">
            <a:spAutoFit/>
          </a:bodyPr>
          <a:lstStyle/>
          <a:p>
            <a:pPr algn="l">
              <a:spcAft>
                <a:spcPts val="300"/>
              </a:spcAft>
            </a:pPr>
            <a:r>
              <a:rPr sz="2100" b="1">
                <a:solidFill>
                  <a:srgbClr val="719E48"/>
                </a:solidFill>
                <a:latin typeface="Arial"/>
              </a:rPr>
              <a:t>AUTHENTICATION</a:t>
            </a:r>
          </a:p>
        </p:txBody>
      </p:sp>
      <p:sp>
        <p:nvSpPr>
          <p:cNvPr id="193" name="TextBox 192"/>
          <p:cNvSpPr txBox="1"/>
          <p:nvPr/>
        </p:nvSpPr>
        <p:spPr>
          <a:xfrm>
            <a:off x="795528" y="2377440"/>
            <a:ext cx="3026664" cy="2907792"/>
          </a:xfrm>
          <a:prstGeom prst="rect">
            <a:avLst/>
          </a:prstGeom>
          <a:noFill/>
          <a:ln>
            <a:noFill/>
          </a:ln>
        </p:spPr>
        <p:txBody>
          <a:bodyPr wrap="square" lIns="73152" rIns="73152" anchor="t">
            <a:spAutoFit/>
          </a:bodyPr>
          <a:lstStyle/>
          <a:p>
            <a:pPr algn="l">
              <a:spcAft>
                <a:spcPts val="300"/>
              </a:spcAft>
            </a:pPr>
            <a:r>
              <a:rPr sz="1700" b="0">
                <a:solidFill>
                  <a:srgbClr val="EBEBEB"/>
                </a:solidFill>
                <a:latin typeface="Arial"/>
              </a:rPr>
              <a:t>Verify identity before access.</a:t>
            </a:r>
          </a:p>
          <a:p>
            <a:pPr algn="l">
              <a:spcAft>
                <a:spcPts val="300"/>
              </a:spcAft>
            </a:pPr>
            <a:endParaRPr sz="1700" b="0">
              <a:solidFill>
                <a:srgbClr val="EBEBEB"/>
              </a:solidFill>
              <a:latin typeface="Arial"/>
            </a:endParaRPr>
          </a:p>
          <a:p>
            <a:pPr algn="l">
              <a:spcAft>
                <a:spcPts val="300"/>
              </a:spcAft>
            </a:pPr>
            <a:r>
              <a:rPr sz="1700" b="0">
                <a:solidFill>
                  <a:srgbClr val="EBEBEB"/>
                </a:solidFill>
                <a:latin typeface="Arial"/>
              </a:rPr>
              <a:t>Unique accounts, MFA for privileged/remote access, secure credential storage, and login monitoring.</a:t>
            </a:r>
          </a:p>
        </p:txBody>
      </p:sp>
      <p:sp>
        <p:nvSpPr>
          <p:cNvPr id="194" name="Rounded Rectangle 193"/>
          <p:cNvSpPr/>
          <p:nvPr/>
        </p:nvSpPr>
        <p:spPr>
          <a:xfrm>
            <a:off x="4050791" y="1828800"/>
            <a:ext cx="3246120" cy="3566160"/>
          </a:xfrm>
          <a:prstGeom prst="roundRect">
            <a:avLst/>
          </a:prstGeom>
          <a:solidFill>
            <a:srgbClr val="232323"/>
          </a:solidFill>
          <a:ln w="19050">
            <a:solidFill>
              <a:srgbClr val="4989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TextBox 194"/>
          <p:cNvSpPr txBox="1"/>
          <p:nvPr/>
        </p:nvSpPr>
        <p:spPr>
          <a:xfrm>
            <a:off x="4160519" y="1920240"/>
            <a:ext cx="3026664" cy="411480"/>
          </a:xfrm>
          <a:prstGeom prst="rect">
            <a:avLst/>
          </a:prstGeom>
          <a:noFill/>
          <a:ln>
            <a:noFill/>
          </a:ln>
        </p:spPr>
        <p:txBody>
          <a:bodyPr wrap="square" lIns="73152" rIns="73152" anchor="t">
            <a:spAutoFit/>
          </a:bodyPr>
          <a:lstStyle/>
          <a:p>
            <a:pPr algn="l">
              <a:spcAft>
                <a:spcPts val="300"/>
              </a:spcAft>
            </a:pPr>
            <a:r>
              <a:rPr sz="2100" b="1">
                <a:solidFill>
                  <a:srgbClr val="4989B8"/>
                </a:solidFill>
                <a:latin typeface="Arial"/>
              </a:rPr>
              <a:t>AUTHORIZATION</a:t>
            </a:r>
          </a:p>
        </p:txBody>
      </p:sp>
      <p:sp>
        <p:nvSpPr>
          <p:cNvPr id="196" name="TextBox 195"/>
          <p:cNvSpPr txBox="1"/>
          <p:nvPr/>
        </p:nvSpPr>
        <p:spPr>
          <a:xfrm>
            <a:off x="4160519" y="2377440"/>
            <a:ext cx="3026664" cy="2907792"/>
          </a:xfrm>
          <a:prstGeom prst="rect">
            <a:avLst/>
          </a:prstGeom>
          <a:noFill/>
          <a:ln>
            <a:noFill/>
          </a:ln>
        </p:spPr>
        <p:txBody>
          <a:bodyPr wrap="square" lIns="73152" rIns="73152" anchor="t">
            <a:spAutoFit/>
          </a:bodyPr>
          <a:lstStyle/>
          <a:p>
            <a:pPr algn="l">
              <a:spcAft>
                <a:spcPts val="300"/>
              </a:spcAft>
            </a:pPr>
            <a:r>
              <a:rPr sz="1700" b="0">
                <a:solidFill>
                  <a:srgbClr val="EBEBEB"/>
                </a:solidFill>
                <a:latin typeface="Arial"/>
              </a:rPr>
              <a:t>Control what an authenticated identity may do.</a:t>
            </a:r>
          </a:p>
          <a:p>
            <a:pPr algn="l">
              <a:spcAft>
                <a:spcPts val="300"/>
              </a:spcAft>
            </a:pPr>
            <a:endParaRPr sz="1700" b="0">
              <a:solidFill>
                <a:srgbClr val="EBEBEB"/>
              </a:solidFill>
              <a:latin typeface="Arial"/>
            </a:endParaRPr>
          </a:p>
          <a:p>
            <a:pPr algn="l">
              <a:spcAft>
                <a:spcPts val="300"/>
              </a:spcAft>
            </a:pPr>
            <a:r>
              <a:rPr sz="1700" b="0">
                <a:solidFill>
                  <a:srgbClr val="EBEBEB"/>
                </a:solidFill>
                <a:latin typeface="Arial"/>
              </a:rPr>
              <a:t>Default deny, role/attribute-based controls, and least privilege for users and services.</a:t>
            </a:r>
          </a:p>
        </p:txBody>
      </p:sp>
      <p:sp>
        <p:nvSpPr>
          <p:cNvPr id="197" name="Rounded Rectangle 196"/>
          <p:cNvSpPr/>
          <p:nvPr/>
        </p:nvSpPr>
        <p:spPr>
          <a:xfrm>
            <a:off x="7406640" y="1828800"/>
            <a:ext cx="3246120" cy="3566160"/>
          </a:xfrm>
          <a:prstGeom prst="roundRect">
            <a:avLst/>
          </a:prstGeom>
          <a:solidFill>
            <a:srgbClr val="232323"/>
          </a:solidFill>
          <a:ln w="19050">
            <a:solidFill>
              <a:srgbClr val="F5C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TextBox 197"/>
          <p:cNvSpPr txBox="1"/>
          <p:nvPr/>
        </p:nvSpPr>
        <p:spPr>
          <a:xfrm>
            <a:off x="7516368" y="1920240"/>
            <a:ext cx="3026664" cy="411480"/>
          </a:xfrm>
          <a:prstGeom prst="rect">
            <a:avLst/>
          </a:prstGeom>
          <a:noFill/>
          <a:ln>
            <a:noFill/>
          </a:ln>
        </p:spPr>
        <p:txBody>
          <a:bodyPr wrap="square" lIns="73152" rIns="73152" anchor="t">
            <a:spAutoFit/>
          </a:bodyPr>
          <a:lstStyle/>
          <a:p>
            <a:pPr algn="l">
              <a:spcAft>
                <a:spcPts val="300"/>
              </a:spcAft>
            </a:pPr>
            <a:r>
              <a:rPr sz="2100" b="1">
                <a:solidFill>
                  <a:srgbClr val="F5C643"/>
                </a:solidFill>
                <a:latin typeface="Arial"/>
              </a:rPr>
              <a:t>ACCOUNTING</a:t>
            </a:r>
          </a:p>
        </p:txBody>
      </p:sp>
      <p:sp>
        <p:nvSpPr>
          <p:cNvPr id="199" name="TextBox 198"/>
          <p:cNvSpPr txBox="1"/>
          <p:nvPr/>
        </p:nvSpPr>
        <p:spPr>
          <a:xfrm>
            <a:off x="7516368" y="2377440"/>
            <a:ext cx="3026664" cy="2907792"/>
          </a:xfrm>
          <a:prstGeom prst="rect">
            <a:avLst/>
          </a:prstGeom>
          <a:noFill/>
          <a:ln>
            <a:noFill/>
          </a:ln>
        </p:spPr>
        <p:txBody>
          <a:bodyPr wrap="square" lIns="73152" rIns="73152" anchor="t">
            <a:spAutoFit/>
          </a:bodyPr>
          <a:lstStyle/>
          <a:p>
            <a:pPr algn="l">
              <a:spcAft>
                <a:spcPts val="300"/>
              </a:spcAft>
            </a:pPr>
            <a:r>
              <a:rPr sz="1700" b="0">
                <a:solidFill>
                  <a:srgbClr val="EBEBEB"/>
                </a:solidFill>
                <a:latin typeface="Arial"/>
              </a:rPr>
              <a:t>Create traceable evidence.</a:t>
            </a:r>
          </a:p>
          <a:p>
            <a:pPr algn="l">
              <a:spcAft>
                <a:spcPts val="300"/>
              </a:spcAft>
            </a:pPr>
            <a:endParaRPr sz="1700" b="0">
              <a:solidFill>
                <a:srgbClr val="EBEBEB"/>
              </a:solidFill>
              <a:latin typeface="Arial"/>
            </a:endParaRPr>
          </a:p>
          <a:p>
            <a:pPr algn="l">
              <a:spcAft>
                <a:spcPts val="300"/>
              </a:spcAft>
            </a:pPr>
            <a:r>
              <a:rPr sz="1700" b="0">
                <a:solidFill>
                  <a:srgbClr val="EBEBEB"/>
                </a:solidFill>
                <a:latin typeface="Arial"/>
              </a:rPr>
              <a:t>Log logins, user creation, privilege changes, database changes, and sensitive file access.</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9511"/>
    </mc:Choice>
    <mc:Fallback xmlns="">
      <p:transition spd="slow" advTm="4951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r>
              <a:rPr sz="3300">
                <a:solidFill>
                  <a:srgbClr val="FFFFFF"/>
                </a:solidFill>
                <a:latin typeface="Arial"/>
              </a:rPr>
              <a:t>UNIT TESTING: SQL INJECTION</a:t>
            </a:r>
          </a:p>
        </p:txBody>
      </p:sp>
      <p:pic>
        <p:nvPicPr>
          <p:cNvPr id="197" name="Google Shape;197;g9504e29505_0_0"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198" name="TextBox 197"/>
          <p:cNvSpPr txBox="1"/>
          <p:nvPr/>
        </p:nvSpPr>
        <p:spPr>
          <a:xfrm>
            <a:off x="658368" y="1600200"/>
            <a:ext cx="4114800" cy="822960"/>
          </a:xfrm>
          <a:prstGeom prst="rect">
            <a:avLst/>
          </a:prstGeom>
          <a:noFill/>
          <a:ln>
            <a:noFill/>
          </a:ln>
        </p:spPr>
        <p:txBody>
          <a:bodyPr wrap="square" lIns="73152" rIns="73152" anchor="t">
            <a:spAutoFit/>
          </a:bodyPr>
          <a:lstStyle/>
          <a:p>
            <a:pPr algn="l">
              <a:spcAft>
                <a:spcPts val="300"/>
              </a:spcAft>
            </a:pPr>
            <a:r>
              <a:rPr sz="1600" b="0">
                <a:solidFill>
                  <a:srgbClr val="FFFFFF"/>
                </a:solidFill>
                <a:latin typeface="Arial"/>
              </a:rPr>
              <a:t>Framework: Microsoft Native Unit Test Framework for C++</a:t>
            </a:r>
          </a:p>
          <a:p>
            <a:pPr algn="l">
              <a:spcAft>
                <a:spcPts val="300"/>
              </a:spcAft>
            </a:pPr>
            <a:r>
              <a:rPr sz="1600" b="0">
                <a:solidFill>
                  <a:srgbClr val="FFFFFF"/>
                </a:solidFill>
                <a:latin typeface="Arial"/>
              </a:rPr>
              <a:t>Coverage: 2 valid queries + 4 malicious-input tests</a:t>
            </a:r>
          </a:p>
          <a:p>
            <a:pPr algn="l">
              <a:spcAft>
                <a:spcPts val="300"/>
              </a:spcAft>
            </a:pPr>
            <a:r>
              <a:rPr sz="1600" b="0">
                <a:solidFill>
                  <a:srgbClr val="FFFFFF"/>
                </a:solidFill>
                <a:latin typeface="Arial"/>
              </a:rPr>
              <a:t>Outcome: 6 passed, 0 failed</a:t>
            </a:r>
          </a:p>
        </p:txBody>
      </p:sp>
      <p:pic>
        <p:nvPicPr>
          <p:cNvPr id="199" name="Picture 198" descr="image(20261012-192030).png"/>
          <p:cNvPicPr>
            <a:picLocks noChangeAspect="1"/>
          </p:cNvPicPr>
          <p:nvPr/>
        </p:nvPicPr>
        <p:blipFill>
          <a:blip r:embed="rId7"/>
          <a:stretch>
            <a:fillRect/>
          </a:stretch>
        </p:blipFill>
        <p:spPr>
          <a:xfrm>
            <a:off x="2423160" y="2423160"/>
            <a:ext cx="7452360" cy="3063240"/>
          </a:xfrm>
          <a:prstGeom prst="rect">
            <a:avLst/>
          </a:prstGeom>
        </p:spPr>
      </p:pic>
      <p:sp>
        <p:nvSpPr>
          <p:cNvPr id="200" name="Rectangle 199"/>
          <p:cNvSpPr/>
          <p:nvPr/>
        </p:nvSpPr>
        <p:spPr>
          <a:xfrm>
            <a:off x="2857747" y="2743200"/>
            <a:ext cx="5257305" cy="2788920"/>
          </a:xfrm>
          <a:prstGeom prst="rect">
            <a:avLst/>
          </a:prstGeom>
          <a:noFill/>
          <a:ln w="12700">
            <a:solidFill>
              <a:srgbClr val="719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Rounded Rectangle 200"/>
          <p:cNvSpPr/>
          <p:nvPr/>
        </p:nvSpPr>
        <p:spPr>
          <a:xfrm>
            <a:off x="8641080" y="1737360"/>
            <a:ext cx="1508760" cy="438912"/>
          </a:xfrm>
          <a:prstGeom prst="roundRect">
            <a:avLst/>
          </a:prstGeom>
          <a:solidFill>
            <a:srgbClr val="719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6 / 6 PASSED</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0796"/>
    </mc:Choice>
    <mc:Fallback xmlns="">
      <p:transition spd="slow" advTm="5079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300">
                <a:solidFill>
                  <a:srgbClr val="FFFFFF"/>
                </a:solidFill>
                <a:latin typeface="Arial"/>
              </a:rPr>
              <a:t>TEST 1 — NORMAL QUERY</a:t>
            </a:r>
          </a:p>
        </p:txBody>
      </p:sp>
      <p:sp>
        <p:nvSpPr>
          <p:cNvPr id="3" name="Text Placeholder 2"/>
          <p:cNvSpPr>
            <a:spLocks noGrp="1"/>
          </p:cNvSpPr>
          <p:nvPr>
            <p:ph type="body" idx="1"/>
          </p:nvPr>
        </p:nvSpPr>
        <p:spPr/>
        <p:txBody>
          <a:bodyPr/>
          <a:lstStyle/>
          <a:p>
            <a:endParaRPr/>
          </a:p>
        </p:txBody>
      </p:sp>
      <p:pic>
        <p:nvPicPr>
          <p:cNvPr id="4" name="Picture 3" descr="image.png"/>
          <p:cNvPicPr>
            <a:picLocks noChangeAspect="1"/>
          </p:cNvPicPr>
          <p:nvPr/>
        </p:nvPicPr>
        <p:blipFill>
          <a:blip r:embed="rId4"/>
          <a:stretch>
            <a:fillRect/>
          </a:stretch>
        </p:blipFill>
        <p:spPr>
          <a:xfrm>
            <a:off x="11084074" y="5440526"/>
            <a:ext cx="886601" cy="1149225"/>
          </a:xfrm>
          <a:prstGeom prst="rect">
            <a:avLst/>
          </a:prstGeom>
        </p:spPr>
      </p:pic>
      <p:sp>
        <p:nvSpPr>
          <p:cNvPr id="5" name="TextBox 4"/>
          <p:cNvSpPr txBox="1"/>
          <p:nvPr/>
        </p:nvSpPr>
        <p:spPr>
          <a:xfrm>
            <a:off x="685800" y="1600200"/>
            <a:ext cx="3886200" cy="713232"/>
          </a:xfrm>
          <a:prstGeom prst="rect">
            <a:avLst/>
          </a:prstGeom>
          <a:noFill/>
          <a:ln>
            <a:noFill/>
          </a:ln>
        </p:spPr>
        <p:txBody>
          <a:bodyPr wrap="square" lIns="73152" rIns="73152" anchor="t">
            <a:spAutoFit/>
          </a:bodyPr>
          <a:lstStyle/>
          <a:p>
            <a:pPr algn="l">
              <a:spcAft>
                <a:spcPts val="300"/>
              </a:spcAft>
            </a:pPr>
            <a:r>
              <a:rPr sz="1800" b="1">
                <a:solidFill>
                  <a:srgbClr val="FFFFFF"/>
                </a:solidFill>
                <a:latin typeface="Arial"/>
              </a:rPr>
              <a:t>Does a normal SELECT query pass?</a:t>
            </a:r>
          </a:p>
        </p:txBody>
      </p:sp>
      <p:sp>
        <p:nvSpPr>
          <p:cNvPr id="6" name="Rounded Rectangle 5"/>
          <p:cNvSpPr/>
          <p:nvPr/>
        </p:nvSpPr>
        <p:spPr>
          <a:xfrm>
            <a:off x="4617720" y="1627632"/>
            <a:ext cx="960120" cy="365760"/>
          </a:xfrm>
          <a:prstGeom prst="roundRect">
            <a:avLst/>
          </a:prstGeom>
          <a:solidFill>
            <a:srgbClr val="719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PASS</a:t>
            </a:r>
          </a:p>
        </p:txBody>
      </p:sp>
      <p:sp>
        <p:nvSpPr>
          <p:cNvPr id="7" name="Rounded Rectangle 6"/>
          <p:cNvSpPr/>
          <p:nvPr/>
        </p:nvSpPr>
        <p:spPr>
          <a:xfrm>
            <a:off x="685800" y="2240280"/>
            <a:ext cx="4800600" cy="1993392"/>
          </a:xfrm>
          <a:prstGeom prst="roundRect">
            <a:avLst/>
          </a:prstGeom>
          <a:solidFill>
            <a:srgbClr val="191919"/>
          </a:solidFill>
          <a:ln>
            <a:solidFill>
              <a:srgbClr val="737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377440"/>
            <a:ext cx="4434840" cy="274320"/>
          </a:xfrm>
          <a:prstGeom prst="rect">
            <a:avLst/>
          </a:prstGeom>
          <a:noFill/>
          <a:ln>
            <a:noFill/>
          </a:ln>
        </p:spPr>
        <p:txBody>
          <a:bodyPr wrap="square" lIns="73152" rIns="73152" anchor="t">
            <a:spAutoFit/>
          </a:bodyPr>
          <a:lstStyle/>
          <a:p>
            <a:pPr algn="l">
              <a:spcAft>
                <a:spcPts val="300"/>
              </a:spcAft>
            </a:pPr>
            <a:r>
              <a:rPr sz="1600" b="1">
                <a:solidFill>
                  <a:srgbClr val="BEBEBE"/>
                </a:solidFill>
                <a:latin typeface="Arial"/>
              </a:rPr>
              <a:t>Test input</a:t>
            </a:r>
          </a:p>
        </p:txBody>
      </p:sp>
      <p:sp>
        <p:nvSpPr>
          <p:cNvPr id="9" name="TextBox 8"/>
          <p:cNvSpPr txBox="1"/>
          <p:nvPr/>
        </p:nvSpPr>
        <p:spPr>
          <a:xfrm>
            <a:off x="868680" y="2697480"/>
            <a:ext cx="4434840" cy="777240"/>
          </a:xfrm>
          <a:prstGeom prst="rect">
            <a:avLst/>
          </a:prstGeom>
          <a:noFill/>
          <a:ln>
            <a:noFill/>
          </a:ln>
        </p:spPr>
        <p:txBody>
          <a:bodyPr wrap="square" lIns="73152" rIns="73152" anchor="t">
            <a:spAutoFit/>
          </a:bodyPr>
          <a:lstStyle/>
          <a:p>
            <a:pPr algn="l">
              <a:spcAft>
                <a:spcPts val="300"/>
              </a:spcAft>
            </a:pPr>
            <a:r>
              <a:rPr sz="1400" b="0">
                <a:solidFill>
                  <a:srgbClr val="B4DCFF"/>
                </a:solidFill>
                <a:latin typeface="Arial"/>
              </a:rPr>
              <a:t>SELECT * FROM USERS;</a:t>
            </a:r>
          </a:p>
        </p:txBody>
      </p:sp>
      <p:sp>
        <p:nvSpPr>
          <p:cNvPr id="10" name="TextBox 9"/>
          <p:cNvSpPr txBox="1"/>
          <p:nvPr/>
        </p:nvSpPr>
        <p:spPr>
          <a:xfrm>
            <a:off x="868680" y="3566160"/>
            <a:ext cx="4434840" cy="502920"/>
          </a:xfrm>
          <a:prstGeom prst="rect">
            <a:avLst/>
          </a:prstGeom>
          <a:noFill/>
          <a:ln>
            <a:noFill/>
          </a:ln>
        </p:spPr>
        <p:txBody>
          <a:bodyPr wrap="square" lIns="73152" rIns="73152" anchor="t">
            <a:spAutoFit/>
          </a:bodyPr>
          <a:lstStyle/>
          <a:p>
            <a:pPr algn="l">
              <a:spcAft>
                <a:spcPts val="300"/>
              </a:spcAft>
            </a:pPr>
            <a:r>
              <a:rPr sz="1600" b="0">
                <a:solidFill>
                  <a:srgbClr val="EBEBEB"/>
                </a:solidFill>
                <a:latin typeface="Arial"/>
              </a:rPr>
              <a:t>Expected: Not flagged as SQL injection.</a:t>
            </a:r>
          </a:p>
        </p:txBody>
      </p:sp>
      <p:sp>
        <p:nvSpPr>
          <p:cNvPr id="11" name="TextBox 10"/>
          <p:cNvSpPr txBox="1"/>
          <p:nvPr/>
        </p:nvSpPr>
        <p:spPr>
          <a:xfrm>
            <a:off x="868680" y="3986784"/>
            <a:ext cx="4434840" cy="411480"/>
          </a:xfrm>
          <a:prstGeom prst="rect">
            <a:avLst/>
          </a:prstGeom>
          <a:noFill/>
          <a:ln>
            <a:noFill/>
          </a:ln>
        </p:spPr>
        <p:txBody>
          <a:bodyPr wrap="square" lIns="73152" rIns="73152" anchor="t">
            <a:spAutoFit/>
          </a:bodyPr>
          <a:lstStyle/>
          <a:p>
            <a:pPr algn="l">
              <a:spcAft>
                <a:spcPts val="300"/>
              </a:spcAft>
            </a:pPr>
            <a:r>
              <a:rPr sz="1600" b="1">
                <a:solidFill>
                  <a:srgbClr val="719E48"/>
                </a:solidFill>
                <a:latin typeface="Arial"/>
              </a:rPr>
              <a:t>Result: Passed — valid query allowed.</a:t>
            </a:r>
          </a:p>
        </p:txBody>
      </p:sp>
      <p:pic>
        <p:nvPicPr>
          <p:cNvPr id="12" name="Picture 11" descr="image(20261012-191926).png"/>
          <p:cNvPicPr>
            <a:picLocks noChangeAspect="1"/>
          </p:cNvPicPr>
          <p:nvPr/>
        </p:nvPicPr>
        <p:blipFill>
          <a:blip r:embed="rId5"/>
          <a:stretch>
            <a:fillRect/>
          </a:stretch>
        </p:blipFill>
        <p:spPr>
          <a:xfrm>
            <a:off x="5652395" y="2057400"/>
            <a:ext cx="5428729" cy="2788920"/>
          </a:xfrm>
          <a:prstGeom prst="rect">
            <a:avLst/>
          </a:prstGeom>
        </p:spPr>
      </p:pic>
      <p:sp>
        <p:nvSpPr>
          <p:cNvPr id="13" name="Rectangle 12"/>
          <p:cNvSpPr/>
          <p:nvPr/>
        </p:nvSpPr>
        <p:spPr>
          <a:xfrm>
            <a:off x="5652395" y="2057400"/>
            <a:ext cx="5428729" cy="2788920"/>
          </a:xfrm>
          <a:prstGeom prst="rect">
            <a:avLst/>
          </a:prstGeom>
          <a:noFill/>
          <a:ln w="12700">
            <a:solidFill>
              <a:srgbClr val="719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85800" y="4983480"/>
            <a:ext cx="9646920" cy="713232"/>
          </a:xfrm>
          <a:prstGeom prst="roundRect">
            <a:avLst/>
          </a:prstGeom>
          <a:solidFill>
            <a:srgbClr val="2D2D2D"/>
          </a:solidFill>
          <a:ln>
            <a:solidFill>
              <a:srgbClr val="F5C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5111496"/>
            <a:ext cx="9281160" cy="457200"/>
          </a:xfrm>
          <a:prstGeom prst="rect">
            <a:avLst/>
          </a:prstGeom>
          <a:noFill/>
          <a:ln>
            <a:noFill/>
          </a:ln>
        </p:spPr>
        <p:txBody>
          <a:bodyPr wrap="square" lIns="73152" rIns="73152" anchor="t">
            <a:spAutoFit/>
          </a:bodyPr>
          <a:lstStyle/>
          <a:p>
            <a:pPr algn="l">
              <a:spcAft>
                <a:spcPts val="300"/>
              </a:spcAft>
            </a:pPr>
            <a:r>
              <a:rPr sz="1600" b="0">
                <a:solidFill>
                  <a:srgbClr val="EBEBEB"/>
                </a:solidFill>
                <a:latin typeface="Arial"/>
              </a:rPr>
              <a:t>Take it further: Add more valid SELECT patterns so security checks do not create false positives.</a:t>
            </a:r>
          </a:p>
        </p:txBody>
      </p:sp>
    </p:spTree>
  </p:cSld>
  <p:clrMapOvr>
    <a:masterClrMapping/>
  </p:clrMapOvr>
  <mc:AlternateContent xmlns:mc="http://schemas.openxmlformats.org/markup-compatibility/2006" xmlns:p14="http://schemas.microsoft.com/office/powerpoint/2010/main">
    <mc:Choice Requires="p14">
      <p:transition spd="slow" p14:dur="2000" advTm="44972"/>
    </mc:Choice>
    <mc:Fallback xmlns="">
      <p:transition spd="slow" advTm="44972"/>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300">
                <a:solidFill>
                  <a:srgbClr val="FFFFFF"/>
                </a:solidFill>
                <a:latin typeface="Arial"/>
              </a:rPr>
              <a:t>TEST 2 — VALID WHERE QUERY</a:t>
            </a:r>
          </a:p>
        </p:txBody>
      </p:sp>
      <p:sp>
        <p:nvSpPr>
          <p:cNvPr id="3" name="Text Placeholder 2"/>
          <p:cNvSpPr>
            <a:spLocks noGrp="1"/>
          </p:cNvSpPr>
          <p:nvPr>
            <p:ph type="body" idx="1"/>
          </p:nvPr>
        </p:nvSpPr>
        <p:spPr/>
        <p:txBody>
          <a:bodyPr/>
          <a:lstStyle/>
          <a:p>
            <a:endParaRPr/>
          </a:p>
        </p:txBody>
      </p:sp>
      <p:pic>
        <p:nvPicPr>
          <p:cNvPr id="4" name="Picture 3" descr="image.png"/>
          <p:cNvPicPr>
            <a:picLocks noChangeAspect="1"/>
          </p:cNvPicPr>
          <p:nvPr/>
        </p:nvPicPr>
        <p:blipFill>
          <a:blip r:embed="rId4"/>
          <a:stretch>
            <a:fillRect/>
          </a:stretch>
        </p:blipFill>
        <p:spPr>
          <a:xfrm>
            <a:off x="11084074" y="5440526"/>
            <a:ext cx="886601" cy="1149225"/>
          </a:xfrm>
          <a:prstGeom prst="rect">
            <a:avLst/>
          </a:prstGeom>
        </p:spPr>
      </p:pic>
      <p:sp>
        <p:nvSpPr>
          <p:cNvPr id="5" name="TextBox 4"/>
          <p:cNvSpPr txBox="1"/>
          <p:nvPr/>
        </p:nvSpPr>
        <p:spPr>
          <a:xfrm>
            <a:off x="685800" y="1600200"/>
            <a:ext cx="3886200" cy="713232"/>
          </a:xfrm>
          <a:prstGeom prst="rect">
            <a:avLst/>
          </a:prstGeom>
          <a:noFill/>
          <a:ln>
            <a:noFill/>
          </a:ln>
        </p:spPr>
        <p:txBody>
          <a:bodyPr wrap="square" lIns="73152" rIns="73152" anchor="t">
            <a:spAutoFit/>
          </a:bodyPr>
          <a:lstStyle/>
          <a:p>
            <a:pPr algn="l">
              <a:spcAft>
                <a:spcPts val="300"/>
              </a:spcAft>
            </a:pPr>
            <a:r>
              <a:rPr sz="1800" b="1">
                <a:solidFill>
                  <a:srgbClr val="FFFFFF"/>
                </a:solidFill>
                <a:latin typeface="Arial"/>
              </a:rPr>
              <a:t>Does a normal WHERE query pass?</a:t>
            </a:r>
          </a:p>
        </p:txBody>
      </p:sp>
      <p:sp>
        <p:nvSpPr>
          <p:cNvPr id="6" name="Rounded Rectangle 5"/>
          <p:cNvSpPr/>
          <p:nvPr/>
        </p:nvSpPr>
        <p:spPr>
          <a:xfrm>
            <a:off x="4617720" y="1627632"/>
            <a:ext cx="960120" cy="365760"/>
          </a:xfrm>
          <a:prstGeom prst="roundRect">
            <a:avLst/>
          </a:prstGeom>
          <a:solidFill>
            <a:srgbClr val="719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PASS</a:t>
            </a:r>
          </a:p>
        </p:txBody>
      </p:sp>
      <p:sp>
        <p:nvSpPr>
          <p:cNvPr id="7" name="Rounded Rectangle 6"/>
          <p:cNvSpPr/>
          <p:nvPr/>
        </p:nvSpPr>
        <p:spPr>
          <a:xfrm>
            <a:off x="685800" y="2240280"/>
            <a:ext cx="4800600" cy="1993392"/>
          </a:xfrm>
          <a:prstGeom prst="roundRect">
            <a:avLst/>
          </a:prstGeom>
          <a:solidFill>
            <a:srgbClr val="191919"/>
          </a:solidFill>
          <a:ln>
            <a:solidFill>
              <a:srgbClr val="737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377440"/>
            <a:ext cx="4434840" cy="274320"/>
          </a:xfrm>
          <a:prstGeom prst="rect">
            <a:avLst/>
          </a:prstGeom>
          <a:noFill/>
          <a:ln>
            <a:noFill/>
          </a:ln>
        </p:spPr>
        <p:txBody>
          <a:bodyPr wrap="square" lIns="73152" rIns="73152" anchor="t">
            <a:spAutoFit/>
          </a:bodyPr>
          <a:lstStyle/>
          <a:p>
            <a:pPr algn="l">
              <a:spcAft>
                <a:spcPts val="300"/>
              </a:spcAft>
            </a:pPr>
            <a:r>
              <a:rPr sz="1600" b="1">
                <a:solidFill>
                  <a:srgbClr val="BEBEBE"/>
                </a:solidFill>
                <a:latin typeface="Arial"/>
              </a:rPr>
              <a:t>Test input</a:t>
            </a:r>
          </a:p>
        </p:txBody>
      </p:sp>
      <p:sp>
        <p:nvSpPr>
          <p:cNvPr id="9" name="TextBox 8"/>
          <p:cNvSpPr txBox="1"/>
          <p:nvPr/>
        </p:nvSpPr>
        <p:spPr>
          <a:xfrm>
            <a:off x="868680" y="2697480"/>
            <a:ext cx="4434840" cy="777240"/>
          </a:xfrm>
          <a:prstGeom prst="rect">
            <a:avLst/>
          </a:prstGeom>
          <a:noFill/>
          <a:ln>
            <a:noFill/>
          </a:ln>
        </p:spPr>
        <p:txBody>
          <a:bodyPr wrap="square" lIns="73152" rIns="73152" anchor="t">
            <a:spAutoFit/>
          </a:bodyPr>
          <a:lstStyle/>
          <a:p>
            <a:pPr algn="l">
              <a:spcAft>
                <a:spcPts val="300"/>
              </a:spcAft>
            </a:pPr>
            <a:r>
              <a:rPr sz="1400" b="0">
                <a:solidFill>
                  <a:srgbClr val="B4DCFF"/>
                </a:solidFill>
                <a:latin typeface="Arial"/>
              </a:rPr>
              <a:t>SELECT ID, NAME, PASSWORD FROM USERS WHERE NAME='Fred';</a:t>
            </a:r>
          </a:p>
        </p:txBody>
      </p:sp>
      <p:sp>
        <p:nvSpPr>
          <p:cNvPr id="10" name="TextBox 9"/>
          <p:cNvSpPr txBox="1"/>
          <p:nvPr/>
        </p:nvSpPr>
        <p:spPr>
          <a:xfrm>
            <a:off x="868680" y="3566160"/>
            <a:ext cx="4434840" cy="502920"/>
          </a:xfrm>
          <a:prstGeom prst="rect">
            <a:avLst/>
          </a:prstGeom>
          <a:noFill/>
          <a:ln>
            <a:noFill/>
          </a:ln>
        </p:spPr>
        <p:txBody>
          <a:bodyPr wrap="square" lIns="73152" rIns="73152" anchor="t">
            <a:spAutoFit/>
          </a:bodyPr>
          <a:lstStyle/>
          <a:p>
            <a:pPr algn="l">
              <a:spcAft>
                <a:spcPts val="300"/>
              </a:spcAft>
            </a:pPr>
            <a:r>
              <a:rPr sz="1600" b="0">
                <a:solidFill>
                  <a:srgbClr val="EBEBEB"/>
                </a:solidFill>
                <a:latin typeface="Arial"/>
              </a:rPr>
              <a:t>Expected: Not flagged as SQL injection.</a:t>
            </a:r>
          </a:p>
        </p:txBody>
      </p:sp>
      <p:sp>
        <p:nvSpPr>
          <p:cNvPr id="11" name="TextBox 10"/>
          <p:cNvSpPr txBox="1"/>
          <p:nvPr/>
        </p:nvSpPr>
        <p:spPr>
          <a:xfrm>
            <a:off x="868680" y="3986784"/>
            <a:ext cx="4434840" cy="411480"/>
          </a:xfrm>
          <a:prstGeom prst="rect">
            <a:avLst/>
          </a:prstGeom>
          <a:noFill/>
          <a:ln>
            <a:noFill/>
          </a:ln>
        </p:spPr>
        <p:txBody>
          <a:bodyPr wrap="square" lIns="73152" rIns="73152" anchor="t">
            <a:spAutoFit/>
          </a:bodyPr>
          <a:lstStyle/>
          <a:p>
            <a:pPr algn="l">
              <a:spcAft>
                <a:spcPts val="300"/>
              </a:spcAft>
            </a:pPr>
            <a:r>
              <a:rPr sz="1600" b="1">
                <a:solidFill>
                  <a:srgbClr val="719E48"/>
                </a:solidFill>
                <a:latin typeface="Arial"/>
              </a:rPr>
              <a:t>Result: Passed — valid WHERE query allowed.</a:t>
            </a:r>
          </a:p>
        </p:txBody>
      </p:sp>
      <p:pic>
        <p:nvPicPr>
          <p:cNvPr id="12" name="Picture 11" descr="image(20261012-191926).png"/>
          <p:cNvPicPr>
            <a:picLocks noChangeAspect="1"/>
          </p:cNvPicPr>
          <p:nvPr/>
        </p:nvPicPr>
        <p:blipFill>
          <a:blip r:embed="rId5"/>
          <a:stretch>
            <a:fillRect/>
          </a:stretch>
        </p:blipFill>
        <p:spPr>
          <a:xfrm>
            <a:off x="5652395" y="2057400"/>
            <a:ext cx="5428729" cy="2788920"/>
          </a:xfrm>
          <a:prstGeom prst="rect">
            <a:avLst/>
          </a:prstGeom>
        </p:spPr>
      </p:pic>
      <p:sp>
        <p:nvSpPr>
          <p:cNvPr id="13" name="Rectangle 12"/>
          <p:cNvSpPr/>
          <p:nvPr/>
        </p:nvSpPr>
        <p:spPr>
          <a:xfrm>
            <a:off x="5652395" y="2057400"/>
            <a:ext cx="5428729" cy="2788920"/>
          </a:xfrm>
          <a:prstGeom prst="rect">
            <a:avLst/>
          </a:prstGeom>
          <a:noFill/>
          <a:ln w="12700">
            <a:solidFill>
              <a:srgbClr val="719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85800" y="4983480"/>
            <a:ext cx="9646920" cy="713232"/>
          </a:xfrm>
          <a:prstGeom prst="roundRect">
            <a:avLst/>
          </a:prstGeom>
          <a:solidFill>
            <a:srgbClr val="2D2D2D"/>
          </a:solidFill>
          <a:ln>
            <a:solidFill>
              <a:srgbClr val="F5C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5111496"/>
            <a:ext cx="9281160" cy="457200"/>
          </a:xfrm>
          <a:prstGeom prst="rect">
            <a:avLst/>
          </a:prstGeom>
          <a:noFill/>
          <a:ln>
            <a:noFill/>
          </a:ln>
        </p:spPr>
        <p:txBody>
          <a:bodyPr wrap="square" lIns="73152" rIns="73152" anchor="t">
            <a:spAutoFit/>
          </a:bodyPr>
          <a:lstStyle/>
          <a:p>
            <a:pPr algn="l">
              <a:spcAft>
                <a:spcPts val="300"/>
              </a:spcAft>
            </a:pPr>
            <a:r>
              <a:rPr sz="1600" b="0">
                <a:solidFill>
                  <a:srgbClr val="EBEBEB"/>
                </a:solidFill>
                <a:latin typeface="Arial"/>
              </a:rPr>
              <a:t>Take it further: Add parameterized-query tests using names with spaces, punctuation, and apostrophes.</a:t>
            </a:r>
          </a:p>
        </p:txBody>
      </p:sp>
    </p:spTree>
  </p:cSld>
  <p:clrMapOvr>
    <a:masterClrMapping/>
  </p:clrMapOvr>
  <mc:AlternateContent xmlns:mc="http://schemas.openxmlformats.org/markup-compatibility/2006" xmlns:p14="http://schemas.microsoft.com/office/powerpoint/2010/main">
    <mc:Choice Requires="p14">
      <p:transition spd="slow" p14:dur="2000" advTm="39572"/>
    </mc:Choice>
    <mc:Fallback xmlns="">
      <p:transition spd="slow" advTm="39572"/>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300">
                <a:solidFill>
                  <a:srgbClr val="FFFFFF"/>
                </a:solidFill>
                <a:latin typeface="Arial"/>
              </a:rPr>
              <a:t>TEST 3 — OR 1=1</a:t>
            </a:r>
          </a:p>
        </p:txBody>
      </p:sp>
      <p:pic>
        <p:nvPicPr>
          <p:cNvPr id="4" name="Picture 3" descr="image.png"/>
          <p:cNvPicPr>
            <a:picLocks noChangeAspect="1"/>
          </p:cNvPicPr>
          <p:nvPr/>
        </p:nvPicPr>
        <p:blipFill>
          <a:blip r:embed="rId4"/>
          <a:stretch>
            <a:fillRect/>
          </a:stretch>
        </p:blipFill>
        <p:spPr>
          <a:xfrm>
            <a:off x="11084074" y="5440526"/>
            <a:ext cx="886601" cy="1149225"/>
          </a:xfrm>
          <a:prstGeom prst="rect">
            <a:avLst/>
          </a:prstGeom>
        </p:spPr>
      </p:pic>
      <p:sp>
        <p:nvSpPr>
          <p:cNvPr id="5" name="TextBox 4"/>
          <p:cNvSpPr txBox="1"/>
          <p:nvPr/>
        </p:nvSpPr>
        <p:spPr>
          <a:xfrm>
            <a:off x="685800" y="1600200"/>
            <a:ext cx="3886200" cy="713232"/>
          </a:xfrm>
          <a:prstGeom prst="rect">
            <a:avLst/>
          </a:prstGeom>
          <a:noFill/>
          <a:ln>
            <a:noFill/>
          </a:ln>
        </p:spPr>
        <p:txBody>
          <a:bodyPr wrap="square" lIns="73152" rIns="73152" anchor="t">
            <a:spAutoFit/>
          </a:bodyPr>
          <a:lstStyle/>
          <a:p>
            <a:pPr algn="l">
              <a:spcAft>
                <a:spcPts val="300"/>
              </a:spcAft>
            </a:pPr>
            <a:r>
              <a:rPr sz="1800" b="1">
                <a:solidFill>
                  <a:srgbClr val="FFFFFF"/>
                </a:solidFill>
                <a:latin typeface="Arial"/>
              </a:rPr>
              <a:t>Does OR 1=1 get blocked?</a:t>
            </a:r>
          </a:p>
        </p:txBody>
      </p:sp>
      <p:sp>
        <p:nvSpPr>
          <p:cNvPr id="6" name="Rounded Rectangle 5"/>
          <p:cNvSpPr/>
          <p:nvPr/>
        </p:nvSpPr>
        <p:spPr>
          <a:xfrm>
            <a:off x="4617720" y="1627632"/>
            <a:ext cx="960120" cy="365760"/>
          </a:xfrm>
          <a:prstGeom prst="roundRect">
            <a:avLst/>
          </a:prstGeom>
          <a:solidFill>
            <a:srgbClr val="719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PASS</a:t>
            </a:r>
          </a:p>
        </p:txBody>
      </p:sp>
      <p:sp>
        <p:nvSpPr>
          <p:cNvPr id="7" name="Rounded Rectangle 6"/>
          <p:cNvSpPr/>
          <p:nvPr/>
        </p:nvSpPr>
        <p:spPr>
          <a:xfrm>
            <a:off x="685800" y="2240280"/>
            <a:ext cx="4800600" cy="1993392"/>
          </a:xfrm>
          <a:prstGeom prst="roundRect">
            <a:avLst/>
          </a:prstGeom>
          <a:solidFill>
            <a:srgbClr val="191919"/>
          </a:solidFill>
          <a:ln>
            <a:solidFill>
              <a:srgbClr val="737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377440"/>
            <a:ext cx="4434840" cy="274320"/>
          </a:xfrm>
          <a:prstGeom prst="rect">
            <a:avLst/>
          </a:prstGeom>
          <a:noFill/>
          <a:ln>
            <a:noFill/>
          </a:ln>
        </p:spPr>
        <p:txBody>
          <a:bodyPr wrap="square" lIns="73152" rIns="73152" anchor="t">
            <a:spAutoFit/>
          </a:bodyPr>
          <a:lstStyle/>
          <a:p>
            <a:pPr algn="l">
              <a:spcAft>
                <a:spcPts val="300"/>
              </a:spcAft>
            </a:pPr>
            <a:r>
              <a:rPr sz="1600" b="1">
                <a:solidFill>
                  <a:srgbClr val="BEBEBE"/>
                </a:solidFill>
                <a:latin typeface="Arial"/>
              </a:rPr>
              <a:t>Test input</a:t>
            </a:r>
          </a:p>
        </p:txBody>
      </p:sp>
      <p:sp>
        <p:nvSpPr>
          <p:cNvPr id="9" name="TextBox 8"/>
          <p:cNvSpPr txBox="1"/>
          <p:nvPr/>
        </p:nvSpPr>
        <p:spPr>
          <a:xfrm>
            <a:off x="868680" y="2697480"/>
            <a:ext cx="4434840" cy="777240"/>
          </a:xfrm>
          <a:prstGeom prst="rect">
            <a:avLst/>
          </a:prstGeom>
          <a:noFill/>
          <a:ln>
            <a:noFill/>
          </a:ln>
        </p:spPr>
        <p:txBody>
          <a:bodyPr wrap="square" lIns="73152" rIns="73152" anchor="t">
            <a:spAutoFit/>
          </a:bodyPr>
          <a:lstStyle/>
          <a:p>
            <a:pPr algn="l">
              <a:spcAft>
                <a:spcPts val="300"/>
              </a:spcAft>
            </a:pPr>
            <a:r>
              <a:rPr sz="1400" b="0">
                <a:solidFill>
                  <a:srgbClr val="B4DCFF"/>
                </a:solidFill>
                <a:latin typeface="Arial"/>
              </a:rPr>
              <a:t>SELECT * FROM USERS WHERE NAME='Fred' OR 1=1;</a:t>
            </a:r>
          </a:p>
        </p:txBody>
      </p:sp>
      <p:sp>
        <p:nvSpPr>
          <p:cNvPr id="10" name="TextBox 9"/>
          <p:cNvSpPr txBox="1"/>
          <p:nvPr/>
        </p:nvSpPr>
        <p:spPr>
          <a:xfrm>
            <a:off x="868680" y="3566160"/>
            <a:ext cx="4434840" cy="502920"/>
          </a:xfrm>
          <a:prstGeom prst="rect">
            <a:avLst/>
          </a:prstGeom>
          <a:noFill/>
          <a:ln>
            <a:noFill/>
          </a:ln>
        </p:spPr>
        <p:txBody>
          <a:bodyPr wrap="square" lIns="73152" rIns="73152" anchor="t">
            <a:spAutoFit/>
          </a:bodyPr>
          <a:lstStyle/>
          <a:p>
            <a:pPr algn="l">
              <a:spcAft>
                <a:spcPts val="300"/>
              </a:spcAft>
            </a:pPr>
            <a:r>
              <a:rPr sz="1600" b="0">
                <a:solidFill>
                  <a:srgbClr val="EBEBEB"/>
                </a:solidFill>
                <a:latin typeface="Arial"/>
              </a:rPr>
              <a:t>Expected: Flagged as suspicious input.</a:t>
            </a:r>
          </a:p>
        </p:txBody>
      </p:sp>
      <p:sp>
        <p:nvSpPr>
          <p:cNvPr id="11" name="TextBox 10"/>
          <p:cNvSpPr txBox="1"/>
          <p:nvPr/>
        </p:nvSpPr>
        <p:spPr>
          <a:xfrm>
            <a:off x="868680" y="3986784"/>
            <a:ext cx="4434840" cy="411480"/>
          </a:xfrm>
          <a:prstGeom prst="rect">
            <a:avLst/>
          </a:prstGeom>
          <a:noFill/>
          <a:ln>
            <a:noFill/>
          </a:ln>
        </p:spPr>
        <p:txBody>
          <a:bodyPr wrap="square" lIns="73152" rIns="73152" anchor="t">
            <a:spAutoFit/>
          </a:bodyPr>
          <a:lstStyle/>
          <a:p>
            <a:pPr algn="l">
              <a:spcAft>
                <a:spcPts val="300"/>
              </a:spcAft>
            </a:pPr>
            <a:r>
              <a:rPr sz="1600" b="1">
                <a:solidFill>
                  <a:srgbClr val="719E48"/>
                </a:solidFill>
                <a:latin typeface="Arial"/>
              </a:rPr>
              <a:t>Result: Passed — attack pattern detected.</a:t>
            </a:r>
          </a:p>
        </p:txBody>
      </p:sp>
      <p:pic>
        <p:nvPicPr>
          <p:cNvPr id="12" name="Picture 11" descr="image(20261012-191926).png"/>
          <p:cNvPicPr>
            <a:picLocks noChangeAspect="1"/>
          </p:cNvPicPr>
          <p:nvPr/>
        </p:nvPicPr>
        <p:blipFill>
          <a:blip r:embed="rId5"/>
          <a:stretch>
            <a:fillRect/>
          </a:stretch>
        </p:blipFill>
        <p:spPr>
          <a:xfrm>
            <a:off x="5652395" y="2057400"/>
            <a:ext cx="5428729" cy="2788920"/>
          </a:xfrm>
          <a:prstGeom prst="rect">
            <a:avLst/>
          </a:prstGeom>
        </p:spPr>
      </p:pic>
      <p:sp>
        <p:nvSpPr>
          <p:cNvPr id="13" name="Rectangle 12"/>
          <p:cNvSpPr/>
          <p:nvPr/>
        </p:nvSpPr>
        <p:spPr>
          <a:xfrm>
            <a:off x="5652395" y="2057400"/>
            <a:ext cx="5428729" cy="2788920"/>
          </a:xfrm>
          <a:prstGeom prst="rect">
            <a:avLst/>
          </a:prstGeom>
          <a:noFill/>
          <a:ln w="12700">
            <a:solidFill>
              <a:srgbClr val="719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85800" y="4983480"/>
            <a:ext cx="9646920" cy="713232"/>
          </a:xfrm>
          <a:prstGeom prst="roundRect">
            <a:avLst/>
          </a:prstGeom>
          <a:solidFill>
            <a:srgbClr val="2D2D2D"/>
          </a:solidFill>
          <a:ln>
            <a:solidFill>
              <a:srgbClr val="F5C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5111496"/>
            <a:ext cx="9281160" cy="457200"/>
          </a:xfrm>
          <a:prstGeom prst="rect">
            <a:avLst/>
          </a:prstGeom>
          <a:noFill/>
          <a:ln>
            <a:noFill/>
          </a:ln>
        </p:spPr>
        <p:txBody>
          <a:bodyPr wrap="square" lIns="73152" rIns="73152" anchor="t">
            <a:spAutoFit/>
          </a:bodyPr>
          <a:lstStyle/>
          <a:p>
            <a:pPr algn="l">
              <a:spcAft>
                <a:spcPts val="300"/>
              </a:spcAft>
            </a:pPr>
            <a:r>
              <a:rPr sz="1600" b="0">
                <a:solidFill>
                  <a:srgbClr val="EBEBEB"/>
                </a:solidFill>
                <a:latin typeface="Arial"/>
              </a:rPr>
              <a:t>Take it further: Test case changes, extra whitespace, comments, and encoded forms; parameterized SQL remains the primary defense.</a:t>
            </a:r>
          </a:p>
        </p:txBody>
      </p:sp>
    </p:spTree>
  </p:cSld>
  <p:clrMapOvr>
    <a:masterClrMapping/>
  </p:clrMapOvr>
  <mc:AlternateContent xmlns:mc="http://schemas.openxmlformats.org/markup-compatibility/2006" xmlns:p14="http://schemas.microsoft.com/office/powerpoint/2010/main">
    <mc:Choice Requires="p14">
      <p:transition spd="slow" p14:dur="2000" advTm="44822"/>
    </mc:Choice>
    <mc:Fallback xmlns="">
      <p:transition spd="slow" advTm="44822"/>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300">
                <a:solidFill>
                  <a:srgbClr val="FFFFFF"/>
                </a:solidFill>
                <a:latin typeface="Arial"/>
              </a:rPr>
              <a:t>TEST 4 — OR 2=2</a:t>
            </a:r>
          </a:p>
        </p:txBody>
      </p:sp>
      <p:sp>
        <p:nvSpPr>
          <p:cNvPr id="3" name="Text Placeholder 2"/>
          <p:cNvSpPr>
            <a:spLocks noGrp="1"/>
          </p:cNvSpPr>
          <p:nvPr>
            <p:ph type="body" idx="1"/>
          </p:nvPr>
        </p:nvSpPr>
        <p:spPr/>
        <p:txBody>
          <a:bodyPr/>
          <a:lstStyle/>
          <a:p>
            <a:endParaRPr/>
          </a:p>
        </p:txBody>
      </p:sp>
      <p:pic>
        <p:nvPicPr>
          <p:cNvPr id="4" name="Picture 3" descr="image.png"/>
          <p:cNvPicPr>
            <a:picLocks noChangeAspect="1"/>
          </p:cNvPicPr>
          <p:nvPr/>
        </p:nvPicPr>
        <p:blipFill>
          <a:blip r:embed="rId4"/>
          <a:stretch>
            <a:fillRect/>
          </a:stretch>
        </p:blipFill>
        <p:spPr>
          <a:xfrm>
            <a:off x="11084074" y="5440526"/>
            <a:ext cx="886601" cy="1149225"/>
          </a:xfrm>
          <a:prstGeom prst="rect">
            <a:avLst/>
          </a:prstGeom>
        </p:spPr>
      </p:pic>
      <p:sp>
        <p:nvSpPr>
          <p:cNvPr id="5" name="TextBox 4"/>
          <p:cNvSpPr txBox="1"/>
          <p:nvPr/>
        </p:nvSpPr>
        <p:spPr>
          <a:xfrm>
            <a:off x="685800" y="1600200"/>
            <a:ext cx="3886200" cy="713232"/>
          </a:xfrm>
          <a:prstGeom prst="rect">
            <a:avLst/>
          </a:prstGeom>
          <a:noFill/>
          <a:ln>
            <a:noFill/>
          </a:ln>
        </p:spPr>
        <p:txBody>
          <a:bodyPr wrap="square" lIns="73152" rIns="73152" anchor="t">
            <a:spAutoFit/>
          </a:bodyPr>
          <a:lstStyle/>
          <a:p>
            <a:pPr algn="l">
              <a:spcAft>
                <a:spcPts val="300"/>
              </a:spcAft>
            </a:pPr>
            <a:r>
              <a:rPr sz="1800" b="1">
                <a:solidFill>
                  <a:srgbClr val="FFFFFF"/>
                </a:solidFill>
                <a:latin typeface="Arial"/>
              </a:rPr>
              <a:t>Does OR 2=2 get blocked?</a:t>
            </a:r>
          </a:p>
        </p:txBody>
      </p:sp>
      <p:sp>
        <p:nvSpPr>
          <p:cNvPr id="6" name="Rounded Rectangle 5"/>
          <p:cNvSpPr/>
          <p:nvPr/>
        </p:nvSpPr>
        <p:spPr>
          <a:xfrm>
            <a:off x="4617720" y="1627632"/>
            <a:ext cx="960120" cy="365760"/>
          </a:xfrm>
          <a:prstGeom prst="roundRect">
            <a:avLst/>
          </a:prstGeom>
          <a:solidFill>
            <a:srgbClr val="719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PASS</a:t>
            </a:r>
          </a:p>
        </p:txBody>
      </p:sp>
      <p:sp>
        <p:nvSpPr>
          <p:cNvPr id="7" name="Rounded Rectangle 6"/>
          <p:cNvSpPr/>
          <p:nvPr/>
        </p:nvSpPr>
        <p:spPr>
          <a:xfrm>
            <a:off x="685800" y="2240280"/>
            <a:ext cx="4800600" cy="1993392"/>
          </a:xfrm>
          <a:prstGeom prst="roundRect">
            <a:avLst/>
          </a:prstGeom>
          <a:solidFill>
            <a:srgbClr val="191919"/>
          </a:solidFill>
          <a:ln>
            <a:solidFill>
              <a:srgbClr val="737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377440"/>
            <a:ext cx="4434840" cy="274320"/>
          </a:xfrm>
          <a:prstGeom prst="rect">
            <a:avLst/>
          </a:prstGeom>
          <a:noFill/>
          <a:ln>
            <a:noFill/>
          </a:ln>
        </p:spPr>
        <p:txBody>
          <a:bodyPr wrap="square" lIns="73152" rIns="73152" anchor="t">
            <a:spAutoFit/>
          </a:bodyPr>
          <a:lstStyle/>
          <a:p>
            <a:pPr algn="l">
              <a:spcAft>
                <a:spcPts val="300"/>
              </a:spcAft>
            </a:pPr>
            <a:r>
              <a:rPr sz="1600" b="1">
                <a:solidFill>
                  <a:srgbClr val="BEBEBE"/>
                </a:solidFill>
                <a:latin typeface="Arial"/>
              </a:rPr>
              <a:t>Test input</a:t>
            </a:r>
          </a:p>
        </p:txBody>
      </p:sp>
      <p:sp>
        <p:nvSpPr>
          <p:cNvPr id="9" name="TextBox 8"/>
          <p:cNvSpPr txBox="1"/>
          <p:nvPr/>
        </p:nvSpPr>
        <p:spPr>
          <a:xfrm>
            <a:off x="868680" y="2697480"/>
            <a:ext cx="4434840" cy="777240"/>
          </a:xfrm>
          <a:prstGeom prst="rect">
            <a:avLst/>
          </a:prstGeom>
          <a:noFill/>
          <a:ln>
            <a:noFill/>
          </a:ln>
        </p:spPr>
        <p:txBody>
          <a:bodyPr wrap="square" lIns="73152" rIns="73152" anchor="t">
            <a:spAutoFit/>
          </a:bodyPr>
          <a:lstStyle/>
          <a:p>
            <a:pPr algn="l">
              <a:spcAft>
                <a:spcPts val="300"/>
              </a:spcAft>
            </a:pPr>
            <a:r>
              <a:rPr sz="1400" b="0">
                <a:solidFill>
                  <a:srgbClr val="B4DCFF"/>
                </a:solidFill>
                <a:latin typeface="Arial"/>
              </a:rPr>
              <a:t>SELECT * FROM USERS WHERE NAME='Fred' OR 2=2;</a:t>
            </a:r>
          </a:p>
        </p:txBody>
      </p:sp>
      <p:sp>
        <p:nvSpPr>
          <p:cNvPr id="10" name="TextBox 9"/>
          <p:cNvSpPr txBox="1"/>
          <p:nvPr/>
        </p:nvSpPr>
        <p:spPr>
          <a:xfrm>
            <a:off x="868680" y="3566160"/>
            <a:ext cx="4434840" cy="502920"/>
          </a:xfrm>
          <a:prstGeom prst="rect">
            <a:avLst/>
          </a:prstGeom>
          <a:noFill/>
          <a:ln>
            <a:noFill/>
          </a:ln>
        </p:spPr>
        <p:txBody>
          <a:bodyPr wrap="square" lIns="73152" rIns="73152" anchor="t">
            <a:spAutoFit/>
          </a:bodyPr>
          <a:lstStyle/>
          <a:p>
            <a:pPr algn="l">
              <a:spcAft>
                <a:spcPts val="300"/>
              </a:spcAft>
            </a:pPr>
            <a:r>
              <a:rPr sz="1600" b="0">
                <a:solidFill>
                  <a:srgbClr val="EBEBEB"/>
                </a:solidFill>
                <a:latin typeface="Arial"/>
              </a:rPr>
              <a:t>Expected: Flagged as suspicious input.</a:t>
            </a:r>
          </a:p>
        </p:txBody>
      </p:sp>
      <p:sp>
        <p:nvSpPr>
          <p:cNvPr id="11" name="TextBox 10"/>
          <p:cNvSpPr txBox="1"/>
          <p:nvPr/>
        </p:nvSpPr>
        <p:spPr>
          <a:xfrm>
            <a:off x="868680" y="3986784"/>
            <a:ext cx="4434840" cy="411480"/>
          </a:xfrm>
          <a:prstGeom prst="rect">
            <a:avLst/>
          </a:prstGeom>
          <a:noFill/>
          <a:ln>
            <a:noFill/>
          </a:ln>
        </p:spPr>
        <p:txBody>
          <a:bodyPr wrap="square" lIns="73152" rIns="73152" anchor="t">
            <a:spAutoFit/>
          </a:bodyPr>
          <a:lstStyle/>
          <a:p>
            <a:pPr algn="l">
              <a:spcAft>
                <a:spcPts val="300"/>
              </a:spcAft>
            </a:pPr>
            <a:r>
              <a:rPr sz="1600" b="1">
                <a:solidFill>
                  <a:srgbClr val="719E48"/>
                </a:solidFill>
                <a:latin typeface="Arial"/>
              </a:rPr>
              <a:t>Result: Passed — detection is not hard-coded to 1=1.</a:t>
            </a:r>
          </a:p>
        </p:txBody>
      </p:sp>
      <p:pic>
        <p:nvPicPr>
          <p:cNvPr id="12" name="Picture 11" descr="image(20261012-191926).png"/>
          <p:cNvPicPr>
            <a:picLocks noChangeAspect="1"/>
          </p:cNvPicPr>
          <p:nvPr/>
        </p:nvPicPr>
        <p:blipFill>
          <a:blip r:embed="rId5"/>
          <a:stretch>
            <a:fillRect/>
          </a:stretch>
        </p:blipFill>
        <p:spPr>
          <a:xfrm>
            <a:off x="5652395" y="2057400"/>
            <a:ext cx="5428729" cy="2788920"/>
          </a:xfrm>
          <a:prstGeom prst="rect">
            <a:avLst/>
          </a:prstGeom>
        </p:spPr>
      </p:pic>
      <p:sp>
        <p:nvSpPr>
          <p:cNvPr id="13" name="Rectangle 12"/>
          <p:cNvSpPr/>
          <p:nvPr/>
        </p:nvSpPr>
        <p:spPr>
          <a:xfrm>
            <a:off x="5652395" y="2057400"/>
            <a:ext cx="5428729" cy="2788920"/>
          </a:xfrm>
          <a:prstGeom prst="rect">
            <a:avLst/>
          </a:prstGeom>
          <a:noFill/>
          <a:ln w="12700">
            <a:solidFill>
              <a:srgbClr val="719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85800" y="4983480"/>
            <a:ext cx="9646920" cy="713232"/>
          </a:xfrm>
          <a:prstGeom prst="roundRect">
            <a:avLst/>
          </a:prstGeom>
          <a:solidFill>
            <a:srgbClr val="2D2D2D"/>
          </a:solidFill>
          <a:ln>
            <a:solidFill>
              <a:srgbClr val="F5C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5111496"/>
            <a:ext cx="9281160" cy="457200"/>
          </a:xfrm>
          <a:prstGeom prst="rect">
            <a:avLst/>
          </a:prstGeom>
          <a:noFill/>
          <a:ln>
            <a:noFill/>
          </a:ln>
        </p:spPr>
        <p:txBody>
          <a:bodyPr wrap="square" lIns="73152" rIns="73152" anchor="t">
            <a:spAutoFit/>
          </a:bodyPr>
          <a:lstStyle/>
          <a:p>
            <a:pPr algn="l">
              <a:spcAft>
                <a:spcPts val="300"/>
              </a:spcAft>
            </a:pPr>
            <a:r>
              <a:rPr sz="1600" b="0">
                <a:solidFill>
                  <a:srgbClr val="EBEBEB"/>
                </a:solidFill>
                <a:latin typeface="Arial"/>
              </a:rPr>
              <a:t>Take it further: Use fuzzing/property-based tests to generate many equivalent tautologies automatically.</a:t>
            </a:r>
          </a:p>
        </p:txBody>
      </p:sp>
    </p:spTree>
  </p:cSld>
  <p:clrMapOvr>
    <a:masterClrMapping/>
  </p:clrMapOvr>
  <mc:AlternateContent xmlns:mc="http://schemas.openxmlformats.org/markup-compatibility/2006" xmlns:p14="http://schemas.microsoft.com/office/powerpoint/2010/main">
    <mc:Choice Requires="p14">
      <p:transition spd="slow" p14:dur="2000" advTm="49160"/>
    </mc:Choice>
    <mc:Fallback xmlns="">
      <p:transition spd="slow" advTm="4916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300">
                <a:solidFill>
                  <a:srgbClr val="FFFFFF"/>
                </a:solidFill>
                <a:latin typeface="Arial"/>
              </a:rPr>
              <a:t>TEST 5 — QUOTED STRING</a:t>
            </a:r>
          </a:p>
        </p:txBody>
      </p:sp>
      <p:pic>
        <p:nvPicPr>
          <p:cNvPr id="4" name="Picture 3" descr="image.png"/>
          <p:cNvPicPr>
            <a:picLocks noChangeAspect="1"/>
          </p:cNvPicPr>
          <p:nvPr/>
        </p:nvPicPr>
        <p:blipFill>
          <a:blip r:embed="rId4"/>
          <a:stretch>
            <a:fillRect/>
          </a:stretch>
        </p:blipFill>
        <p:spPr>
          <a:xfrm>
            <a:off x="11084074" y="5440526"/>
            <a:ext cx="886601" cy="1149225"/>
          </a:xfrm>
          <a:prstGeom prst="rect">
            <a:avLst/>
          </a:prstGeom>
        </p:spPr>
      </p:pic>
      <p:sp>
        <p:nvSpPr>
          <p:cNvPr id="5" name="TextBox 4"/>
          <p:cNvSpPr txBox="1"/>
          <p:nvPr/>
        </p:nvSpPr>
        <p:spPr>
          <a:xfrm>
            <a:off x="685800" y="1600200"/>
            <a:ext cx="3886200" cy="713232"/>
          </a:xfrm>
          <a:prstGeom prst="rect">
            <a:avLst/>
          </a:prstGeom>
          <a:noFill/>
          <a:ln>
            <a:noFill/>
          </a:ln>
        </p:spPr>
        <p:txBody>
          <a:bodyPr wrap="square" lIns="73152" rIns="73152" anchor="t">
            <a:spAutoFit/>
          </a:bodyPr>
          <a:lstStyle/>
          <a:p>
            <a:pPr algn="l">
              <a:spcAft>
                <a:spcPts val="300"/>
              </a:spcAft>
            </a:pPr>
            <a:r>
              <a:rPr sz="1800" b="1">
                <a:solidFill>
                  <a:srgbClr val="FFFFFF"/>
                </a:solidFill>
                <a:latin typeface="Arial"/>
              </a:rPr>
              <a:t>Does a quoted tautology get blocked?</a:t>
            </a:r>
          </a:p>
        </p:txBody>
      </p:sp>
      <p:sp>
        <p:nvSpPr>
          <p:cNvPr id="6" name="Rounded Rectangle 5"/>
          <p:cNvSpPr/>
          <p:nvPr/>
        </p:nvSpPr>
        <p:spPr>
          <a:xfrm>
            <a:off x="4617720" y="1627632"/>
            <a:ext cx="960120" cy="365760"/>
          </a:xfrm>
          <a:prstGeom prst="roundRect">
            <a:avLst/>
          </a:prstGeom>
          <a:solidFill>
            <a:srgbClr val="719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PASS</a:t>
            </a:r>
          </a:p>
        </p:txBody>
      </p:sp>
      <p:sp>
        <p:nvSpPr>
          <p:cNvPr id="7" name="Rounded Rectangle 6"/>
          <p:cNvSpPr/>
          <p:nvPr/>
        </p:nvSpPr>
        <p:spPr>
          <a:xfrm>
            <a:off x="685800" y="2240280"/>
            <a:ext cx="4800600" cy="1993392"/>
          </a:xfrm>
          <a:prstGeom prst="roundRect">
            <a:avLst/>
          </a:prstGeom>
          <a:solidFill>
            <a:srgbClr val="191919"/>
          </a:solidFill>
          <a:ln>
            <a:solidFill>
              <a:srgbClr val="737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377440"/>
            <a:ext cx="4434840" cy="274320"/>
          </a:xfrm>
          <a:prstGeom prst="rect">
            <a:avLst/>
          </a:prstGeom>
          <a:noFill/>
          <a:ln>
            <a:noFill/>
          </a:ln>
        </p:spPr>
        <p:txBody>
          <a:bodyPr wrap="square" lIns="73152" rIns="73152" anchor="t">
            <a:spAutoFit/>
          </a:bodyPr>
          <a:lstStyle/>
          <a:p>
            <a:pPr algn="l">
              <a:spcAft>
                <a:spcPts val="300"/>
              </a:spcAft>
            </a:pPr>
            <a:r>
              <a:rPr sz="1600" b="1">
                <a:solidFill>
                  <a:srgbClr val="BEBEBE"/>
                </a:solidFill>
                <a:latin typeface="Arial"/>
              </a:rPr>
              <a:t>Test input</a:t>
            </a:r>
          </a:p>
        </p:txBody>
      </p:sp>
      <p:sp>
        <p:nvSpPr>
          <p:cNvPr id="9" name="TextBox 8"/>
          <p:cNvSpPr txBox="1"/>
          <p:nvPr/>
        </p:nvSpPr>
        <p:spPr>
          <a:xfrm>
            <a:off x="868680" y="2697480"/>
            <a:ext cx="4434840" cy="777240"/>
          </a:xfrm>
          <a:prstGeom prst="rect">
            <a:avLst/>
          </a:prstGeom>
          <a:noFill/>
          <a:ln>
            <a:noFill/>
          </a:ln>
        </p:spPr>
        <p:txBody>
          <a:bodyPr wrap="square" lIns="73152" rIns="73152" anchor="t">
            <a:spAutoFit/>
          </a:bodyPr>
          <a:lstStyle/>
          <a:p>
            <a:pPr algn="l">
              <a:spcAft>
                <a:spcPts val="300"/>
              </a:spcAft>
            </a:pPr>
            <a:r>
              <a:rPr sz="1400" b="0">
                <a:solidFill>
                  <a:srgbClr val="B4DCFF"/>
                </a:solidFill>
                <a:latin typeface="Arial"/>
              </a:rPr>
              <a:t>SELECT * FROM USERS WHERE NAME='Fred' OR 'hi'='hi';</a:t>
            </a:r>
          </a:p>
        </p:txBody>
      </p:sp>
      <p:sp>
        <p:nvSpPr>
          <p:cNvPr id="10" name="TextBox 9"/>
          <p:cNvSpPr txBox="1"/>
          <p:nvPr/>
        </p:nvSpPr>
        <p:spPr>
          <a:xfrm>
            <a:off x="868680" y="3566160"/>
            <a:ext cx="4434840" cy="502920"/>
          </a:xfrm>
          <a:prstGeom prst="rect">
            <a:avLst/>
          </a:prstGeom>
          <a:noFill/>
          <a:ln>
            <a:noFill/>
          </a:ln>
        </p:spPr>
        <p:txBody>
          <a:bodyPr wrap="square" lIns="73152" rIns="73152" anchor="t">
            <a:spAutoFit/>
          </a:bodyPr>
          <a:lstStyle/>
          <a:p>
            <a:pPr algn="l">
              <a:spcAft>
                <a:spcPts val="300"/>
              </a:spcAft>
            </a:pPr>
            <a:r>
              <a:rPr sz="1600" b="0">
                <a:solidFill>
                  <a:srgbClr val="EBEBEB"/>
                </a:solidFill>
                <a:latin typeface="Arial"/>
              </a:rPr>
              <a:t>Expected: Flagged as suspicious input.</a:t>
            </a:r>
          </a:p>
        </p:txBody>
      </p:sp>
      <p:sp>
        <p:nvSpPr>
          <p:cNvPr id="11" name="TextBox 10"/>
          <p:cNvSpPr txBox="1"/>
          <p:nvPr/>
        </p:nvSpPr>
        <p:spPr>
          <a:xfrm>
            <a:off x="868680" y="3986784"/>
            <a:ext cx="4434840" cy="411480"/>
          </a:xfrm>
          <a:prstGeom prst="rect">
            <a:avLst/>
          </a:prstGeom>
          <a:noFill/>
          <a:ln>
            <a:noFill/>
          </a:ln>
        </p:spPr>
        <p:txBody>
          <a:bodyPr wrap="square" lIns="73152" rIns="73152" anchor="t">
            <a:spAutoFit/>
          </a:bodyPr>
          <a:lstStyle/>
          <a:p>
            <a:pPr algn="l">
              <a:spcAft>
                <a:spcPts val="300"/>
              </a:spcAft>
            </a:pPr>
            <a:r>
              <a:rPr sz="1600" b="1">
                <a:solidFill>
                  <a:srgbClr val="719E48"/>
                </a:solidFill>
                <a:latin typeface="Arial"/>
              </a:rPr>
              <a:t>Result: Passed — quoted-string pattern detected.</a:t>
            </a:r>
          </a:p>
        </p:txBody>
      </p:sp>
      <p:pic>
        <p:nvPicPr>
          <p:cNvPr id="12" name="Picture 11" descr="image(20261012-191926).png"/>
          <p:cNvPicPr>
            <a:picLocks noChangeAspect="1"/>
          </p:cNvPicPr>
          <p:nvPr/>
        </p:nvPicPr>
        <p:blipFill>
          <a:blip r:embed="rId5"/>
          <a:stretch>
            <a:fillRect/>
          </a:stretch>
        </p:blipFill>
        <p:spPr>
          <a:xfrm>
            <a:off x="5652395" y="2057400"/>
            <a:ext cx="5428729" cy="2788920"/>
          </a:xfrm>
          <a:prstGeom prst="rect">
            <a:avLst/>
          </a:prstGeom>
        </p:spPr>
      </p:pic>
      <p:sp>
        <p:nvSpPr>
          <p:cNvPr id="13" name="Rectangle 12"/>
          <p:cNvSpPr/>
          <p:nvPr/>
        </p:nvSpPr>
        <p:spPr>
          <a:xfrm>
            <a:off x="5652395" y="2057400"/>
            <a:ext cx="5428729" cy="2788920"/>
          </a:xfrm>
          <a:prstGeom prst="rect">
            <a:avLst/>
          </a:prstGeom>
          <a:noFill/>
          <a:ln w="12700">
            <a:solidFill>
              <a:srgbClr val="719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85800" y="4983480"/>
            <a:ext cx="9646920" cy="713232"/>
          </a:xfrm>
          <a:prstGeom prst="roundRect">
            <a:avLst/>
          </a:prstGeom>
          <a:solidFill>
            <a:srgbClr val="2D2D2D"/>
          </a:solidFill>
          <a:ln>
            <a:solidFill>
              <a:srgbClr val="F5C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5111496"/>
            <a:ext cx="9281160" cy="457200"/>
          </a:xfrm>
          <a:prstGeom prst="rect">
            <a:avLst/>
          </a:prstGeom>
          <a:noFill/>
          <a:ln>
            <a:noFill/>
          </a:ln>
        </p:spPr>
        <p:txBody>
          <a:bodyPr wrap="square" lIns="73152" rIns="73152" anchor="t">
            <a:spAutoFit/>
          </a:bodyPr>
          <a:lstStyle/>
          <a:p>
            <a:pPr algn="l">
              <a:spcAft>
                <a:spcPts val="300"/>
              </a:spcAft>
            </a:pPr>
            <a:r>
              <a:rPr sz="1600" b="0">
                <a:solidFill>
                  <a:srgbClr val="EBEBEB"/>
                </a:solidFill>
                <a:latin typeface="Arial"/>
              </a:rPr>
              <a:t>Take it further: Add tests for escaping, Unicode, and alternative encodings to reduce bypass opportunities.</a:t>
            </a:r>
          </a:p>
        </p:txBody>
      </p:sp>
    </p:spTree>
  </p:cSld>
  <p:clrMapOvr>
    <a:masterClrMapping/>
  </p:clrMapOvr>
  <mc:AlternateContent xmlns:mc="http://schemas.openxmlformats.org/markup-compatibility/2006" xmlns:p14="http://schemas.microsoft.com/office/powerpoint/2010/main">
    <mc:Choice Requires="p14">
      <p:transition spd="slow" p14:dur="2000" advTm="44990"/>
    </mc:Choice>
    <mc:Fallback xmlns="">
      <p:transition spd="slow" advTm="4499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300">
                <a:solidFill>
                  <a:srgbClr val="FFFFFF"/>
                </a:solidFill>
                <a:latin typeface="Arial"/>
              </a:rPr>
              <a:t>TEST 6 — SECOND STRING CASE</a:t>
            </a:r>
          </a:p>
        </p:txBody>
      </p:sp>
      <p:sp>
        <p:nvSpPr>
          <p:cNvPr id="3" name="Text Placeholder 2"/>
          <p:cNvSpPr>
            <a:spLocks noGrp="1"/>
          </p:cNvSpPr>
          <p:nvPr>
            <p:ph type="body" idx="1"/>
          </p:nvPr>
        </p:nvSpPr>
        <p:spPr/>
        <p:txBody>
          <a:bodyPr/>
          <a:lstStyle/>
          <a:p>
            <a:endParaRPr/>
          </a:p>
        </p:txBody>
      </p:sp>
      <p:pic>
        <p:nvPicPr>
          <p:cNvPr id="4" name="Picture 3" descr="image.png"/>
          <p:cNvPicPr>
            <a:picLocks noChangeAspect="1"/>
          </p:cNvPicPr>
          <p:nvPr/>
        </p:nvPicPr>
        <p:blipFill>
          <a:blip r:embed="rId4"/>
          <a:stretch>
            <a:fillRect/>
          </a:stretch>
        </p:blipFill>
        <p:spPr>
          <a:xfrm>
            <a:off x="11084074" y="5440526"/>
            <a:ext cx="886601" cy="1149225"/>
          </a:xfrm>
          <a:prstGeom prst="rect">
            <a:avLst/>
          </a:prstGeom>
        </p:spPr>
      </p:pic>
      <p:sp>
        <p:nvSpPr>
          <p:cNvPr id="5" name="TextBox 4"/>
          <p:cNvSpPr txBox="1"/>
          <p:nvPr/>
        </p:nvSpPr>
        <p:spPr>
          <a:xfrm>
            <a:off x="685800" y="1600200"/>
            <a:ext cx="3886200" cy="713232"/>
          </a:xfrm>
          <a:prstGeom prst="rect">
            <a:avLst/>
          </a:prstGeom>
          <a:noFill/>
          <a:ln>
            <a:noFill/>
          </a:ln>
        </p:spPr>
        <p:txBody>
          <a:bodyPr wrap="square" lIns="73152" rIns="73152" anchor="t">
            <a:spAutoFit/>
          </a:bodyPr>
          <a:lstStyle/>
          <a:p>
            <a:pPr algn="l">
              <a:spcAft>
                <a:spcPts val="300"/>
              </a:spcAft>
            </a:pPr>
            <a:r>
              <a:rPr sz="1800" b="1">
                <a:solidFill>
                  <a:srgbClr val="FFFFFF"/>
                </a:solidFill>
                <a:latin typeface="Arial"/>
              </a:rPr>
              <a:t>Does another quoted tautology get blocked?</a:t>
            </a:r>
          </a:p>
        </p:txBody>
      </p:sp>
      <p:sp>
        <p:nvSpPr>
          <p:cNvPr id="6" name="Rounded Rectangle 5"/>
          <p:cNvSpPr/>
          <p:nvPr/>
        </p:nvSpPr>
        <p:spPr>
          <a:xfrm>
            <a:off x="4617720" y="1627632"/>
            <a:ext cx="960120" cy="365760"/>
          </a:xfrm>
          <a:prstGeom prst="roundRect">
            <a:avLst/>
          </a:prstGeom>
          <a:solidFill>
            <a:srgbClr val="719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PASS</a:t>
            </a:r>
          </a:p>
        </p:txBody>
      </p:sp>
      <p:sp>
        <p:nvSpPr>
          <p:cNvPr id="7" name="Rounded Rectangle 6"/>
          <p:cNvSpPr/>
          <p:nvPr/>
        </p:nvSpPr>
        <p:spPr>
          <a:xfrm>
            <a:off x="685800" y="2240280"/>
            <a:ext cx="4800600" cy="1993392"/>
          </a:xfrm>
          <a:prstGeom prst="roundRect">
            <a:avLst/>
          </a:prstGeom>
          <a:solidFill>
            <a:srgbClr val="191919"/>
          </a:solidFill>
          <a:ln>
            <a:solidFill>
              <a:srgbClr val="737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377440"/>
            <a:ext cx="4434840" cy="274320"/>
          </a:xfrm>
          <a:prstGeom prst="rect">
            <a:avLst/>
          </a:prstGeom>
          <a:noFill/>
          <a:ln>
            <a:noFill/>
          </a:ln>
        </p:spPr>
        <p:txBody>
          <a:bodyPr wrap="square" lIns="73152" rIns="73152" anchor="t">
            <a:spAutoFit/>
          </a:bodyPr>
          <a:lstStyle/>
          <a:p>
            <a:pPr algn="l">
              <a:spcAft>
                <a:spcPts val="300"/>
              </a:spcAft>
            </a:pPr>
            <a:r>
              <a:rPr sz="1600" b="1">
                <a:solidFill>
                  <a:srgbClr val="BEBEBE"/>
                </a:solidFill>
                <a:latin typeface="Arial"/>
              </a:rPr>
              <a:t>Test input</a:t>
            </a:r>
          </a:p>
        </p:txBody>
      </p:sp>
      <p:sp>
        <p:nvSpPr>
          <p:cNvPr id="9" name="TextBox 8"/>
          <p:cNvSpPr txBox="1"/>
          <p:nvPr/>
        </p:nvSpPr>
        <p:spPr>
          <a:xfrm>
            <a:off x="868680" y="2697480"/>
            <a:ext cx="4434840" cy="777240"/>
          </a:xfrm>
          <a:prstGeom prst="rect">
            <a:avLst/>
          </a:prstGeom>
          <a:noFill/>
          <a:ln>
            <a:noFill/>
          </a:ln>
        </p:spPr>
        <p:txBody>
          <a:bodyPr wrap="square" lIns="73152" rIns="73152" anchor="t">
            <a:spAutoFit/>
          </a:bodyPr>
          <a:lstStyle/>
          <a:p>
            <a:pPr algn="l">
              <a:spcAft>
                <a:spcPts val="300"/>
              </a:spcAft>
            </a:pPr>
            <a:r>
              <a:rPr sz="1400" b="0">
                <a:solidFill>
                  <a:srgbClr val="B4DCFF"/>
                </a:solidFill>
                <a:latin typeface="Arial"/>
              </a:rPr>
              <a:t>SELECT * FROM USERS WHERE NAME='Fred' OR 'hack'='hack';</a:t>
            </a:r>
          </a:p>
        </p:txBody>
      </p:sp>
      <p:sp>
        <p:nvSpPr>
          <p:cNvPr id="10" name="TextBox 9"/>
          <p:cNvSpPr txBox="1"/>
          <p:nvPr/>
        </p:nvSpPr>
        <p:spPr>
          <a:xfrm>
            <a:off x="868680" y="3566160"/>
            <a:ext cx="4434840" cy="502920"/>
          </a:xfrm>
          <a:prstGeom prst="rect">
            <a:avLst/>
          </a:prstGeom>
          <a:noFill/>
          <a:ln>
            <a:noFill/>
          </a:ln>
        </p:spPr>
        <p:txBody>
          <a:bodyPr wrap="square" lIns="73152" rIns="73152" anchor="t">
            <a:spAutoFit/>
          </a:bodyPr>
          <a:lstStyle/>
          <a:p>
            <a:pPr algn="l">
              <a:spcAft>
                <a:spcPts val="300"/>
              </a:spcAft>
            </a:pPr>
            <a:r>
              <a:rPr sz="1600" b="0">
                <a:solidFill>
                  <a:srgbClr val="EBEBEB"/>
                </a:solidFill>
                <a:latin typeface="Arial"/>
              </a:rPr>
              <a:t>Expected: Flagged as suspicious input.</a:t>
            </a:r>
          </a:p>
        </p:txBody>
      </p:sp>
      <p:sp>
        <p:nvSpPr>
          <p:cNvPr id="11" name="TextBox 10"/>
          <p:cNvSpPr txBox="1"/>
          <p:nvPr/>
        </p:nvSpPr>
        <p:spPr>
          <a:xfrm>
            <a:off x="868680" y="3986784"/>
            <a:ext cx="4434840" cy="411480"/>
          </a:xfrm>
          <a:prstGeom prst="rect">
            <a:avLst/>
          </a:prstGeom>
          <a:noFill/>
          <a:ln>
            <a:noFill/>
          </a:ln>
        </p:spPr>
        <p:txBody>
          <a:bodyPr wrap="square" lIns="73152" rIns="73152" anchor="t">
            <a:spAutoFit/>
          </a:bodyPr>
          <a:lstStyle/>
          <a:p>
            <a:pPr algn="l">
              <a:spcAft>
                <a:spcPts val="300"/>
              </a:spcAft>
            </a:pPr>
            <a:r>
              <a:rPr sz="1600" b="1">
                <a:solidFill>
                  <a:srgbClr val="719E48"/>
                </a:solidFill>
                <a:latin typeface="Arial"/>
              </a:rPr>
              <a:t>Result: Passed — generic quoted match detected.</a:t>
            </a:r>
          </a:p>
        </p:txBody>
      </p:sp>
      <p:pic>
        <p:nvPicPr>
          <p:cNvPr id="12" name="Picture 11" descr="image(20261012-191926).png"/>
          <p:cNvPicPr>
            <a:picLocks noChangeAspect="1"/>
          </p:cNvPicPr>
          <p:nvPr/>
        </p:nvPicPr>
        <p:blipFill>
          <a:blip r:embed="rId5"/>
          <a:stretch>
            <a:fillRect/>
          </a:stretch>
        </p:blipFill>
        <p:spPr>
          <a:xfrm>
            <a:off x="5652395" y="2057400"/>
            <a:ext cx="5428729" cy="2788920"/>
          </a:xfrm>
          <a:prstGeom prst="rect">
            <a:avLst/>
          </a:prstGeom>
        </p:spPr>
      </p:pic>
      <p:sp>
        <p:nvSpPr>
          <p:cNvPr id="13" name="Rectangle 12"/>
          <p:cNvSpPr/>
          <p:nvPr/>
        </p:nvSpPr>
        <p:spPr>
          <a:xfrm>
            <a:off x="5652395" y="2057400"/>
            <a:ext cx="5428729" cy="2788920"/>
          </a:xfrm>
          <a:prstGeom prst="rect">
            <a:avLst/>
          </a:prstGeom>
          <a:noFill/>
          <a:ln w="12700">
            <a:solidFill>
              <a:srgbClr val="719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85800" y="4983480"/>
            <a:ext cx="9646920" cy="713232"/>
          </a:xfrm>
          <a:prstGeom prst="roundRect">
            <a:avLst/>
          </a:prstGeom>
          <a:solidFill>
            <a:srgbClr val="2D2D2D"/>
          </a:solidFill>
          <a:ln>
            <a:solidFill>
              <a:srgbClr val="F5C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5111496"/>
            <a:ext cx="9281160" cy="457200"/>
          </a:xfrm>
          <a:prstGeom prst="rect">
            <a:avLst/>
          </a:prstGeom>
          <a:noFill/>
          <a:ln>
            <a:noFill/>
          </a:ln>
        </p:spPr>
        <p:txBody>
          <a:bodyPr wrap="square" lIns="73152" rIns="73152" anchor="t">
            <a:spAutoFit/>
          </a:bodyPr>
          <a:lstStyle/>
          <a:p>
            <a:pPr algn="l">
              <a:spcAft>
                <a:spcPts val="300"/>
              </a:spcAft>
            </a:pPr>
            <a:r>
              <a:rPr sz="1600" b="0">
                <a:solidFill>
                  <a:srgbClr val="EBEBEB"/>
                </a:solidFill>
                <a:latin typeface="Arial"/>
              </a:rPr>
              <a:t>Take it further: Keep unit tests as a regression safety net, but prevent SQL injection at the database boundary with parameterized queries.</a:t>
            </a:r>
          </a:p>
        </p:txBody>
      </p:sp>
    </p:spTree>
  </p:cSld>
  <p:clrMapOvr>
    <a:masterClrMapping/>
  </p:clrMapOvr>
  <mc:AlternateContent xmlns:mc="http://schemas.openxmlformats.org/markup-compatibility/2006" xmlns:p14="http://schemas.microsoft.com/office/powerpoint/2010/main">
    <mc:Choice Requires="p14">
      <p:transition spd="slow" p14:dur="2000" advTm="44475"/>
    </mc:Choice>
    <mc:Fallback xmlns="">
      <p:transition spd="slow" advTm="44475"/>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r>
              <a:rPr sz="3300">
                <a:solidFill>
                  <a:srgbClr val="FFFFFF"/>
                </a:solidFill>
                <a:latin typeface="Arial"/>
              </a:rPr>
              <a:t>AUTOMATION SUMMARY</a:t>
            </a: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6">
            <a:alphaModFix/>
          </a:blip>
          <a:srcRect/>
          <a:stretch/>
        </p:blipFill>
        <p:spPr>
          <a:xfrm>
            <a:off x="2127250" y="2474279"/>
            <a:ext cx="7937500" cy="4013200"/>
          </a:xfrm>
          <a:prstGeom prst="rect">
            <a:avLst/>
          </a:prstGeom>
          <a:noFill/>
          <a:ln>
            <a:noFill/>
          </a:ln>
        </p:spPr>
      </p:pic>
      <p:pic>
        <p:nvPicPr>
          <p:cNvPr id="204" name="Google Shape;204;p9"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sp>
        <p:nvSpPr>
          <p:cNvPr id="205" name="TextBox 204"/>
          <p:cNvSpPr txBox="1"/>
          <p:nvPr/>
        </p:nvSpPr>
        <p:spPr>
          <a:xfrm>
            <a:off x="1249680" y="1636458"/>
            <a:ext cx="9692640" cy="658368"/>
          </a:xfrm>
          <a:prstGeom prst="rect">
            <a:avLst/>
          </a:prstGeom>
          <a:solidFill>
            <a:srgbClr val="262626"/>
          </a:solidFill>
          <a:ln>
            <a:solidFill>
              <a:srgbClr val="719E48"/>
            </a:solidFill>
          </a:ln>
        </p:spPr>
        <p:txBody>
          <a:bodyPr wrap="square" lIns="73152" rIns="73152" anchor="t">
            <a:spAutoFit/>
          </a:bodyPr>
          <a:lstStyle/>
          <a:p>
            <a:pPr algn="l">
              <a:spcAft>
                <a:spcPts val="300"/>
              </a:spcAft>
            </a:pPr>
            <a:r>
              <a:rPr sz="1500" b="0" dirty="0">
                <a:solidFill>
                  <a:srgbClr val="EBEBEB"/>
                </a:solidFill>
                <a:latin typeface="Arial"/>
              </a:rPr>
              <a:t>Create: compiler/IDE checks  →  Verify: unit tests + SAST/SCA  →  Pre-production: fuzz/DAST  →  Release: signing  →  Detect/Respond: logs + runtime controls  →  Adapt: feed findings back</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1269"/>
    </mc:Choice>
    <mc:Fallback xmlns="">
      <p:transition spd="slow" advTm="61269"/>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r>
              <a:rPr sz="3300">
                <a:solidFill>
                  <a:srgbClr val="FFFFFF"/>
                </a:solidFill>
                <a:latin typeface="Arial"/>
              </a:rPr>
              <a:t>TOOLS</a:t>
            </a:r>
          </a:p>
        </p:txBody>
      </p:sp>
      <p:pic>
        <p:nvPicPr>
          <p:cNvPr id="211" name="Google Shape;211;p10"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212" name="Rounded Rectangle 211"/>
          <p:cNvSpPr/>
          <p:nvPr/>
        </p:nvSpPr>
        <p:spPr>
          <a:xfrm>
            <a:off x="713232" y="1755648"/>
            <a:ext cx="3246120" cy="3520440"/>
          </a:xfrm>
          <a:prstGeom prst="roundRect">
            <a:avLst/>
          </a:prstGeom>
          <a:solidFill>
            <a:srgbClr val="232323"/>
          </a:solidFill>
          <a:ln w="19050">
            <a:solidFill>
              <a:srgbClr val="4989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TextBox 212"/>
          <p:cNvSpPr txBox="1"/>
          <p:nvPr/>
        </p:nvSpPr>
        <p:spPr>
          <a:xfrm>
            <a:off x="822960" y="1847088"/>
            <a:ext cx="3026664" cy="411480"/>
          </a:xfrm>
          <a:prstGeom prst="rect">
            <a:avLst/>
          </a:prstGeom>
          <a:noFill/>
          <a:ln>
            <a:noFill/>
          </a:ln>
        </p:spPr>
        <p:txBody>
          <a:bodyPr wrap="square" lIns="73152" rIns="73152" anchor="t">
            <a:spAutoFit/>
          </a:bodyPr>
          <a:lstStyle/>
          <a:p>
            <a:pPr algn="l">
              <a:spcAft>
                <a:spcPts val="300"/>
              </a:spcAft>
            </a:pPr>
            <a:r>
              <a:rPr sz="2100" b="1">
                <a:solidFill>
                  <a:srgbClr val="4989B8"/>
                </a:solidFill>
                <a:latin typeface="Arial"/>
              </a:rPr>
              <a:t>CREATE / BUILD</a:t>
            </a:r>
          </a:p>
        </p:txBody>
      </p:sp>
      <p:sp>
        <p:nvSpPr>
          <p:cNvPr id="214" name="TextBox 213"/>
          <p:cNvSpPr txBox="1"/>
          <p:nvPr/>
        </p:nvSpPr>
        <p:spPr>
          <a:xfrm>
            <a:off x="822960" y="2304288"/>
            <a:ext cx="3026664" cy="2862072"/>
          </a:xfrm>
          <a:prstGeom prst="rect">
            <a:avLst/>
          </a:prstGeom>
          <a:noFill/>
          <a:ln>
            <a:noFill/>
          </a:ln>
        </p:spPr>
        <p:txBody>
          <a:bodyPr wrap="square" lIns="73152" rIns="73152" anchor="t">
            <a:spAutoFit/>
          </a:bodyPr>
          <a:lstStyle/>
          <a:p>
            <a:pPr algn="l">
              <a:spcAft>
                <a:spcPts val="300"/>
              </a:spcAft>
            </a:pPr>
            <a:r>
              <a:rPr sz="1700" b="0">
                <a:solidFill>
                  <a:srgbClr val="EBEBEB"/>
                </a:solidFill>
                <a:latin typeface="Arial"/>
              </a:rPr>
              <a:t>Visual Studio compiler + code analysis</a:t>
            </a:r>
          </a:p>
          <a:p>
            <a:pPr algn="l">
              <a:spcAft>
                <a:spcPts val="300"/>
              </a:spcAft>
            </a:pPr>
            <a:r>
              <a:rPr sz="1700" b="0">
                <a:solidFill>
                  <a:srgbClr val="EBEBEB"/>
                </a:solidFill>
                <a:latin typeface="Arial"/>
              </a:rPr>
              <a:t>• Warnings treated as defects</a:t>
            </a:r>
          </a:p>
          <a:p>
            <a:pPr algn="l">
              <a:spcAft>
                <a:spcPts val="300"/>
              </a:spcAft>
            </a:pPr>
            <a:r>
              <a:rPr sz="1700" b="0">
                <a:solidFill>
                  <a:srgbClr val="EBEBEB"/>
                </a:solidFill>
                <a:latin typeface="Arial"/>
              </a:rPr>
              <a:t>• Secure coding rules in IDE</a:t>
            </a:r>
          </a:p>
          <a:p>
            <a:pPr algn="l">
              <a:spcAft>
                <a:spcPts val="300"/>
              </a:spcAft>
            </a:pPr>
            <a:endParaRPr sz="1700" b="0">
              <a:solidFill>
                <a:srgbClr val="EBEBEB"/>
              </a:solidFill>
              <a:latin typeface="Arial"/>
            </a:endParaRPr>
          </a:p>
          <a:p>
            <a:pPr algn="l">
              <a:spcAft>
                <a:spcPts val="300"/>
              </a:spcAft>
            </a:pPr>
            <a:r>
              <a:rPr sz="1700" b="0">
                <a:solidFill>
                  <a:srgbClr val="EBEBEB"/>
                </a:solidFill>
                <a:latin typeface="Arial"/>
              </a:rPr>
              <a:t>Fast feedback before commit.</a:t>
            </a:r>
          </a:p>
        </p:txBody>
      </p:sp>
      <p:sp>
        <p:nvSpPr>
          <p:cNvPr id="215" name="Rounded Rectangle 214"/>
          <p:cNvSpPr/>
          <p:nvPr/>
        </p:nvSpPr>
        <p:spPr>
          <a:xfrm>
            <a:off x="4050791" y="1755648"/>
            <a:ext cx="3246120" cy="3520440"/>
          </a:xfrm>
          <a:prstGeom prst="roundRect">
            <a:avLst/>
          </a:prstGeom>
          <a:solidFill>
            <a:srgbClr val="232323"/>
          </a:solidFill>
          <a:ln w="19050">
            <a:solidFill>
              <a:srgbClr val="719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TextBox 215"/>
          <p:cNvSpPr txBox="1"/>
          <p:nvPr/>
        </p:nvSpPr>
        <p:spPr>
          <a:xfrm>
            <a:off x="4160519" y="1847088"/>
            <a:ext cx="3026664" cy="411480"/>
          </a:xfrm>
          <a:prstGeom prst="rect">
            <a:avLst/>
          </a:prstGeom>
          <a:noFill/>
          <a:ln>
            <a:noFill/>
          </a:ln>
        </p:spPr>
        <p:txBody>
          <a:bodyPr wrap="square" lIns="73152" rIns="73152" anchor="t">
            <a:spAutoFit/>
          </a:bodyPr>
          <a:lstStyle/>
          <a:p>
            <a:pPr algn="l">
              <a:spcAft>
                <a:spcPts val="300"/>
              </a:spcAft>
            </a:pPr>
            <a:r>
              <a:rPr sz="2100" b="1">
                <a:solidFill>
                  <a:srgbClr val="719E48"/>
                </a:solidFill>
                <a:latin typeface="Arial"/>
              </a:rPr>
              <a:t>VERIFY / TEST</a:t>
            </a:r>
          </a:p>
        </p:txBody>
      </p:sp>
      <p:sp>
        <p:nvSpPr>
          <p:cNvPr id="217" name="TextBox 216"/>
          <p:cNvSpPr txBox="1"/>
          <p:nvPr/>
        </p:nvSpPr>
        <p:spPr>
          <a:xfrm>
            <a:off x="4160519" y="2304288"/>
            <a:ext cx="3026664" cy="2862072"/>
          </a:xfrm>
          <a:prstGeom prst="rect">
            <a:avLst/>
          </a:prstGeom>
          <a:noFill/>
          <a:ln>
            <a:noFill/>
          </a:ln>
        </p:spPr>
        <p:txBody>
          <a:bodyPr wrap="square" lIns="73152" rIns="73152" anchor="t">
            <a:spAutoFit/>
          </a:bodyPr>
          <a:lstStyle/>
          <a:p>
            <a:pPr algn="l">
              <a:spcAft>
                <a:spcPts val="300"/>
              </a:spcAft>
            </a:pPr>
            <a:r>
              <a:rPr sz="1700" b="0">
                <a:solidFill>
                  <a:srgbClr val="EBEBEB"/>
                </a:solidFill>
                <a:latin typeface="Arial"/>
              </a:rPr>
              <a:t>Cppcheck 2.21.0</a:t>
            </a:r>
          </a:p>
          <a:p>
            <a:pPr algn="l">
              <a:spcAft>
                <a:spcPts val="300"/>
              </a:spcAft>
            </a:pPr>
            <a:r>
              <a:rPr sz="1700" b="0">
                <a:solidFill>
                  <a:srgbClr val="EBEBEB"/>
                </a:solidFill>
                <a:latin typeface="Arial"/>
              </a:rPr>
              <a:t>CodeQL / approved SAST</a:t>
            </a:r>
          </a:p>
          <a:p>
            <a:pPr algn="l">
              <a:spcAft>
                <a:spcPts val="300"/>
              </a:spcAft>
            </a:pPr>
            <a:r>
              <a:rPr sz="1700" b="0">
                <a:solidFill>
                  <a:srgbClr val="EBEBEB"/>
                </a:solidFill>
                <a:latin typeface="Arial"/>
              </a:rPr>
              <a:t>Native C++ unit tests</a:t>
            </a:r>
          </a:p>
          <a:p>
            <a:pPr algn="l">
              <a:spcAft>
                <a:spcPts val="300"/>
              </a:spcAft>
            </a:pPr>
            <a:r>
              <a:rPr sz="1700" b="0">
                <a:solidFill>
                  <a:srgbClr val="EBEBEB"/>
                </a:solidFill>
                <a:latin typeface="Arial"/>
              </a:rPr>
              <a:t>Dependency/SCA scanning</a:t>
            </a:r>
          </a:p>
          <a:p>
            <a:pPr algn="l">
              <a:spcAft>
                <a:spcPts val="300"/>
              </a:spcAft>
            </a:pPr>
            <a:endParaRPr sz="1700" b="0">
              <a:solidFill>
                <a:srgbClr val="EBEBEB"/>
              </a:solidFill>
              <a:latin typeface="Arial"/>
            </a:endParaRPr>
          </a:p>
          <a:p>
            <a:pPr algn="l">
              <a:spcAft>
                <a:spcPts val="300"/>
              </a:spcAft>
            </a:pPr>
            <a:r>
              <a:rPr sz="1700" b="0">
                <a:solidFill>
                  <a:srgbClr val="EBEBEB"/>
                </a:solidFill>
                <a:latin typeface="Arial"/>
              </a:rPr>
              <a:t>Automated in CI.</a:t>
            </a:r>
          </a:p>
        </p:txBody>
      </p:sp>
      <p:sp>
        <p:nvSpPr>
          <p:cNvPr id="218" name="Rounded Rectangle 217"/>
          <p:cNvSpPr/>
          <p:nvPr/>
        </p:nvSpPr>
        <p:spPr>
          <a:xfrm>
            <a:off x="7388352" y="1755648"/>
            <a:ext cx="3246120" cy="3520440"/>
          </a:xfrm>
          <a:prstGeom prst="roundRect">
            <a:avLst/>
          </a:prstGeom>
          <a:solidFill>
            <a:srgbClr val="232323"/>
          </a:solidFill>
          <a:ln w="19050">
            <a:solidFill>
              <a:srgbClr val="F5C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TextBox 218"/>
          <p:cNvSpPr txBox="1"/>
          <p:nvPr/>
        </p:nvSpPr>
        <p:spPr>
          <a:xfrm>
            <a:off x="7498080" y="1847088"/>
            <a:ext cx="3026664" cy="411480"/>
          </a:xfrm>
          <a:prstGeom prst="rect">
            <a:avLst/>
          </a:prstGeom>
          <a:noFill/>
          <a:ln>
            <a:noFill/>
          </a:ln>
        </p:spPr>
        <p:txBody>
          <a:bodyPr wrap="square" lIns="73152" rIns="73152" anchor="t">
            <a:spAutoFit/>
          </a:bodyPr>
          <a:lstStyle/>
          <a:p>
            <a:pPr algn="l">
              <a:spcAft>
                <a:spcPts val="300"/>
              </a:spcAft>
            </a:pPr>
            <a:r>
              <a:rPr sz="2100" b="1">
                <a:solidFill>
                  <a:srgbClr val="F5C643"/>
                </a:solidFill>
                <a:latin typeface="Arial"/>
              </a:rPr>
              <a:t>PRE-PROD / RUN</a:t>
            </a:r>
          </a:p>
        </p:txBody>
      </p:sp>
      <p:sp>
        <p:nvSpPr>
          <p:cNvPr id="220" name="TextBox 219"/>
          <p:cNvSpPr txBox="1"/>
          <p:nvPr/>
        </p:nvSpPr>
        <p:spPr>
          <a:xfrm>
            <a:off x="7498080" y="2304288"/>
            <a:ext cx="3026664" cy="2862072"/>
          </a:xfrm>
          <a:prstGeom prst="rect">
            <a:avLst/>
          </a:prstGeom>
          <a:noFill/>
          <a:ln>
            <a:noFill/>
          </a:ln>
        </p:spPr>
        <p:txBody>
          <a:bodyPr wrap="square" lIns="73152" rIns="73152" anchor="t">
            <a:spAutoFit/>
          </a:bodyPr>
          <a:lstStyle/>
          <a:p>
            <a:pPr algn="l">
              <a:spcAft>
                <a:spcPts val="300"/>
              </a:spcAft>
            </a:pPr>
            <a:r>
              <a:rPr sz="1600" b="0">
                <a:solidFill>
                  <a:srgbClr val="EBEBEB"/>
                </a:solidFill>
                <a:latin typeface="Arial"/>
              </a:rPr>
              <a:t>Fuzzing + DAST</a:t>
            </a:r>
          </a:p>
          <a:p>
            <a:pPr algn="l">
              <a:spcAft>
                <a:spcPts val="300"/>
              </a:spcAft>
            </a:pPr>
            <a:r>
              <a:rPr sz="1600" b="0">
                <a:solidFill>
                  <a:srgbClr val="EBEBEB"/>
                </a:solidFill>
                <a:latin typeface="Arial"/>
              </a:rPr>
              <a:t>Signed release artifacts</a:t>
            </a:r>
          </a:p>
          <a:p>
            <a:pPr algn="l">
              <a:spcAft>
                <a:spcPts val="300"/>
              </a:spcAft>
            </a:pPr>
            <a:r>
              <a:rPr sz="1600" b="0">
                <a:solidFill>
                  <a:srgbClr val="EBEBEB"/>
                </a:solidFill>
                <a:latin typeface="Arial"/>
              </a:rPr>
              <a:t>Centralized logs / SIEM</a:t>
            </a:r>
          </a:p>
          <a:p>
            <a:pPr algn="l">
              <a:spcAft>
                <a:spcPts val="300"/>
              </a:spcAft>
            </a:pPr>
            <a:r>
              <a:rPr sz="1600" b="0">
                <a:solidFill>
                  <a:srgbClr val="EBEBEB"/>
                </a:solidFill>
                <a:latin typeface="Arial"/>
              </a:rPr>
              <a:t>WAF/RASP where appropriate</a:t>
            </a:r>
          </a:p>
          <a:p>
            <a:pPr algn="l">
              <a:spcAft>
                <a:spcPts val="300"/>
              </a:spcAft>
            </a:pPr>
            <a:endParaRPr sz="1600" b="0">
              <a:solidFill>
                <a:srgbClr val="EBEBEB"/>
              </a:solidFill>
              <a:latin typeface="Arial"/>
            </a:endParaRPr>
          </a:p>
          <a:p>
            <a:pPr algn="l">
              <a:spcAft>
                <a:spcPts val="300"/>
              </a:spcAft>
            </a:pPr>
            <a:r>
              <a:rPr sz="1600" b="0">
                <a:solidFill>
                  <a:srgbClr val="EBEBEB"/>
                </a:solidFill>
                <a:latin typeface="Arial"/>
              </a:rPr>
              <a:t>Runtime feedback closes the loop.</a:t>
            </a:r>
          </a:p>
        </p:txBody>
      </p:sp>
      <p:sp>
        <p:nvSpPr>
          <p:cNvPr id="221" name="TextBox 220"/>
          <p:cNvSpPr txBox="1"/>
          <p:nvPr/>
        </p:nvSpPr>
        <p:spPr>
          <a:xfrm>
            <a:off x="822960" y="5422392"/>
            <a:ext cx="9601200" cy="411480"/>
          </a:xfrm>
          <a:prstGeom prst="rect">
            <a:avLst/>
          </a:prstGeom>
          <a:noFill/>
          <a:ln>
            <a:noFill/>
          </a:ln>
        </p:spPr>
        <p:txBody>
          <a:bodyPr wrap="square" lIns="73152" rIns="73152" anchor="t">
            <a:spAutoFit/>
          </a:bodyPr>
          <a:lstStyle/>
          <a:p>
            <a:pPr algn="l">
              <a:spcAft>
                <a:spcPts val="300"/>
              </a:spcAft>
            </a:pPr>
            <a:r>
              <a:rPr sz="1600" b="0">
                <a:solidFill>
                  <a:srgbClr val="BEBEBE"/>
                </a:solidFill>
                <a:latin typeface="Arial"/>
              </a:rPr>
              <a:t>No tool finds everything: combine automation, manual review, threat modeling, and security testing.</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3739"/>
    </mc:Choice>
    <mc:Fallback xmlns="">
      <p:transition spd="slow" advTm="63739"/>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r>
              <a:rPr sz="3300">
                <a:solidFill>
                  <a:srgbClr val="FFFFFF"/>
                </a:solidFill>
                <a:latin typeface="Arial"/>
              </a:rPr>
              <a:t>RISKS AND BENEFITS</a:t>
            </a:r>
          </a:p>
        </p:txBody>
      </p:sp>
      <p:pic>
        <p:nvPicPr>
          <p:cNvPr id="218" name="Google Shape;218;p11"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219" name="Rounded Rectangle 218"/>
          <p:cNvSpPr/>
          <p:nvPr/>
        </p:nvSpPr>
        <p:spPr>
          <a:xfrm>
            <a:off x="777240" y="1828800"/>
            <a:ext cx="4754880" cy="3520440"/>
          </a:xfrm>
          <a:prstGeom prst="roundRect">
            <a:avLst/>
          </a:prstGeom>
          <a:solidFill>
            <a:srgbClr val="232323"/>
          </a:solidFill>
          <a:ln w="19050">
            <a:solidFill>
              <a:srgbClr val="719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TextBox 219"/>
          <p:cNvSpPr txBox="1"/>
          <p:nvPr/>
        </p:nvSpPr>
        <p:spPr>
          <a:xfrm>
            <a:off x="886968" y="1920240"/>
            <a:ext cx="4535424" cy="411480"/>
          </a:xfrm>
          <a:prstGeom prst="rect">
            <a:avLst/>
          </a:prstGeom>
          <a:noFill/>
          <a:ln>
            <a:noFill/>
          </a:ln>
        </p:spPr>
        <p:txBody>
          <a:bodyPr wrap="square" lIns="73152" rIns="73152" anchor="t">
            <a:spAutoFit/>
          </a:bodyPr>
          <a:lstStyle/>
          <a:p>
            <a:pPr algn="l">
              <a:spcAft>
                <a:spcPts val="300"/>
              </a:spcAft>
            </a:pPr>
            <a:r>
              <a:rPr sz="2100" b="1">
                <a:solidFill>
                  <a:srgbClr val="719E48"/>
                </a:solidFill>
                <a:latin typeface="Arial"/>
              </a:rPr>
              <a:t>ACT NOW — BENEFITS</a:t>
            </a:r>
          </a:p>
        </p:txBody>
      </p:sp>
      <p:sp>
        <p:nvSpPr>
          <p:cNvPr id="221" name="TextBox 220"/>
          <p:cNvSpPr txBox="1"/>
          <p:nvPr/>
        </p:nvSpPr>
        <p:spPr>
          <a:xfrm>
            <a:off x="886968" y="2377440"/>
            <a:ext cx="4535424" cy="2862072"/>
          </a:xfrm>
          <a:prstGeom prst="rect">
            <a:avLst/>
          </a:prstGeom>
          <a:noFill/>
          <a:ln>
            <a:noFill/>
          </a:ln>
        </p:spPr>
        <p:txBody>
          <a:bodyPr wrap="square" lIns="73152" rIns="73152" anchor="t">
            <a:spAutoFit/>
          </a:bodyPr>
          <a:lstStyle/>
          <a:p>
            <a:pPr algn="l">
              <a:spcAft>
                <a:spcPts val="300"/>
              </a:spcAft>
            </a:pPr>
            <a:r>
              <a:rPr sz="1800" b="0">
                <a:solidFill>
                  <a:srgbClr val="EBEBEB"/>
                </a:solidFill>
                <a:latin typeface="Arial"/>
              </a:rPr>
              <a:t>• Fix Level 5 issues before release</a:t>
            </a:r>
          </a:p>
          <a:p>
            <a:pPr algn="l">
              <a:spcAft>
                <a:spcPts val="300"/>
              </a:spcAft>
            </a:pPr>
            <a:r>
              <a:rPr sz="1800" b="0">
                <a:solidFill>
                  <a:srgbClr val="EBEBEB"/>
                </a:solidFill>
                <a:latin typeface="Arial"/>
              </a:rPr>
              <a:t>• Reduce data loss, crashes, and exploit paths</a:t>
            </a:r>
          </a:p>
          <a:p>
            <a:pPr algn="l">
              <a:spcAft>
                <a:spcPts val="300"/>
              </a:spcAft>
            </a:pPr>
            <a:r>
              <a:rPr sz="1800" b="0">
                <a:solidFill>
                  <a:srgbClr val="EBEBEB"/>
                </a:solidFill>
                <a:latin typeface="Arial"/>
              </a:rPr>
              <a:t>• Lower remediation cost while code is fresh</a:t>
            </a:r>
          </a:p>
          <a:p>
            <a:pPr algn="l">
              <a:spcAft>
                <a:spcPts val="300"/>
              </a:spcAft>
            </a:pPr>
            <a:r>
              <a:rPr sz="1800" b="0">
                <a:solidFill>
                  <a:srgbClr val="EBEBEB"/>
                </a:solidFill>
                <a:latin typeface="Arial"/>
              </a:rPr>
              <a:t>• Produce audit evidence automatically</a:t>
            </a:r>
          </a:p>
          <a:p>
            <a:pPr algn="l">
              <a:spcAft>
                <a:spcPts val="300"/>
              </a:spcAft>
            </a:pPr>
            <a:r>
              <a:rPr sz="1800" b="0">
                <a:solidFill>
                  <a:srgbClr val="EBEBEB"/>
                </a:solidFill>
                <a:latin typeface="Arial"/>
              </a:rPr>
              <a:t>• Prevent security debt from compounding</a:t>
            </a:r>
          </a:p>
        </p:txBody>
      </p:sp>
      <p:sp>
        <p:nvSpPr>
          <p:cNvPr id="222" name="Rounded Rectangle 221"/>
          <p:cNvSpPr/>
          <p:nvPr/>
        </p:nvSpPr>
        <p:spPr>
          <a:xfrm>
            <a:off x="5715000" y="1828800"/>
            <a:ext cx="4754880" cy="3520440"/>
          </a:xfrm>
          <a:prstGeom prst="roundRect">
            <a:avLst/>
          </a:prstGeom>
          <a:solidFill>
            <a:srgbClr val="232323"/>
          </a:solidFill>
          <a:ln w="19050">
            <a:solidFill>
              <a:srgbClr val="C543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TextBox 222"/>
          <p:cNvSpPr txBox="1"/>
          <p:nvPr/>
        </p:nvSpPr>
        <p:spPr>
          <a:xfrm>
            <a:off x="5824728" y="1920240"/>
            <a:ext cx="4535424" cy="411480"/>
          </a:xfrm>
          <a:prstGeom prst="rect">
            <a:avLst/>
          </a:prstGeom>
          <a:noFill/>
          <a:ln>
            <a:noFill/>
          </a:ln>
        </p:spPr>
        <p:txBody>
          <a:bodyPr wrap="square" lIns="73152" rIns="73152" anchor="t">
            <a:spAutoFit/>
          </a:bodyPr>
          <a:lstStyle/>
          <a:p>
            <a:pPr algn="l">
              <a:spcAft>
                <a:spcPts val="300"/>
              </a:spcAft>
            </a:pPr>
            <a:r>
              <a:rPr sz="2100" b="1">
                <a:solidFill>
                  <a:srgbClr val="C54336"/>
                </a:solidFill>
                <a:latin typeface="Arial"/>
              </a:rPr>
              <a:t>WAIT — RISKS</a:t>
            </a:r>
          </a:p>
        </p:txBody>
      </p:sp>
      <p:sp>
        <p:nvSpPr>
          <p:cNvPr id="224" name="TextBox 223"/>
          <p:cNvSpPr txBox="1"/>
          <p:nvPr/>
        </p:nvSpPr>
        <p:spPr>
          <a:xfrm>
            <a:off x="5824728" y="2377440"/>
            <a:ext cx="4535424" cy="2862072"/>
          </a:xfrm>
          <a:prstGeom prst="rect">
            <a:avLst/>
          </a:prstGeom>
          <a:noFill/>
          <a:ln>
            <a:noFill/>
          </a:ln>
        </p:spPr>
        <p:txBody>
          <a:bodyPr wrap="square" lIns="73152" rIns="73152" anchor="t">
            <a:spAutoFit/>
          </a:bodyPr>
          <a:lstStyle/>
          <a:p>
            <a:pPr algn="l">
              <a:spcAft>
                <a:spcPts val="300"/>
              </a:spcAft>
            </a:pPr>
            <a:r>
              <a:rPr sz="1800" b="0">
                <a:solidFill>
                  <a:srgbClr val="EBEBEB"/>
                </a:solidFill>
                <a:latin typeface="Arial"/>
              </a:rPr>
              <a:t>• Larger incident impact and recovery cost</a:t>
            </a:r>
          </a:p>
          <a:p>
            <a:pPr algn="l">
              <a:spcAft>
                <a:spcPts val="300"/>
              </a:spcAft>
            </a:pPr>
            <a:r>
              <a:rPr sz="1800" b="0">
                <a:solidFill>
                  <a:srgbClr val="EBEBEB"/>
                </a:solidFill>
                <a:latin typeface="Arial"/>
              </a:rPr>
              <a:t>• More code depends on insecure behavior</a:t>
            </a:r>
          </a:p>
          <a:p>
            <a:pPr algn="l">
              <a:spcAft>
                <a:spcPts val="300"/>
              </a:spcAft>
            </a:pPr>
            <a:r>
              <a:rPr sz="1800" b="0">
                <a:solidFill>
                  <a:srgbClr val="EBEBEB"/>
                </a:solidFill>
                <a:latin typeface="Arial"/>
              </a:rPr>
              <a:t>• Emergency fixes can create new defects</a:t>
            </a:r>
          </a:p>
          <a:p>
            <a:pPr algn="l">
              <a:spcAft>
                <a:spcPts val="300"/>
              </a:spcAft>
            </a:pPr>
            <a:r>
              <a:rPr sz="1800" b="0">
                <a:solidFill>
                  <a:srgbClr val="EBEBEB"/>
                </a:solidFill>
                <a:latin typeface="Arial"/>
              </a:rPr>
              <a:t>• Technical debt grows</a:t>
            </a:r>
          </a:p>
          <a:p>
            <a:pPr algn="l">
              <a:spcAft>
                <a:spcPts val="300"/>
              </a:spcAft>
            </a:pPr>
            <a:r>
              <a:rPr sz="1800" b="0">
                <a:solidFill>
                  <a:srgbClr val="EBEBEB"/>
                </a:solidFill>
                <a:latin typeface="Arial"/>
              </a:rPr>
              <a:t>• Tool findings may become too noisy to triage</a:t>
            </a:r>
          </a:p>
        </p:txBody>
      </p:sp>
      <p:sp>
        <p:nvSpPr>
          <p:cNvPr id="225" name="TextBox 224"/>
          <p:cNvSpPr txBox="1"/>
          <p:nvPr/>
        </p:nvSpPr>
        <p:spPr>
          <a:xfrm>
            <a:off x="914400" y="5486400"/>
            <a:ext cx="9326880" cy="402336"/>
          </a:xfrm>
          <a:prstGeom prst="rect">
            <a:avLst/>
          </a:prstGeom>
          <a:noFill/>
          <a:ln>
            <a:noFill/>
          </a:ln>
        </p:spPr>
        <p:txBody>
          <a:bodyPr wrap="square" lIns="73152" rIns="73152" anchor="t">
            <a:spAutoFit/>
          </a:bodyPr>
          <a:lstStyle/>
          <a:p>
            <a:pPr algn="l">
              <a:spcAft>
                <a:spcPts val="300"/>
              </a:spcAft>
            </a:pPr>
            <a:r>
              <a:rPr sz="1600" b="0">
                <a:solidFill>
                  <a:srgbClr val="BEBEBE"/>
                </a:solidFill>
                <a:latin typeface="Arial"/>
              </a:rPr>
              <a:t>Tradeoff: automation costs time to tune, but release gates and risk-based prioritization keep it manageable.</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2392"/>
    </mc:Choice>
    <mc:Fallback xmlns="">
      <p:transition spd="slow" advTm="52392"/>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r>
              <a:rPr sz="3300">
                <a:solidFill>
                  <a:srgbClr val="FFFFFF"/>
                </a:solidFill>
                <a:latin typeface="Arial"/>
              </a:rPr>
              <a:t>RECOMMENDATIONS</a:t>
            </a:r>
          </a:p>
        </p:txBody>
      </p:sp>
      <p:pic>
        <p:nvPicPr>
          <p:cNvPr id="225" name="Google Shape;225;p12"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226" name="Rounded Rectangle 225"/>
          <p:cNvSpPr/>
          <p:nvPr/>
        </p:nvSpPr>
        <p:spPr>
          <a:xfrm>
            <a:off x="713232" y="1737360"/>
            <a:ext cx="4846320" cy="3840480"/>
          </a:xfrm>
          <a:prstGeom prst="roundRect">
            <a:avLst/>
          </a:prstGeom>
          <a:solidFill>
            <a:srgbClr val="232323"/>
          </a:solidFill>
          <a:ln w="19050">
            <a:solidFill>
              <a:srgbClr val="F5C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TextBox 226"/>
          <p:cNvSpPr txBox="1"/>
          <p:nvPr/>
        </p:nvSpPr>
        <p:spPr>
          <a:xfrm>
            <a:off x="822960" y="1828800"/>
            <a:ext cx="4626864" cy="411480"/>
          </a:xfrm>
          <a:prstGeom prst="rect">
            <a:avLst/>
          </a:prstGeom>
          <a:noFill/>
          <a:ln>
            <a:noFill/>
          </a:ln>
        </p:spPr>
        <p:txBody>
          <a:bodyPr wrap="square" lIns="73152" rIns="73152" anchor="t">
            <a:spAutoFit/>
          </a:bodyPr>
          <a:lstStyle/>
          <a:p>
            <a:pPr algn="l">
              <a:spcAft>
                <a:spcPts val="300"/>
              </a:spcAft>
            </a:pPr>
            <a:r>
              <a:rPr sz="2100" b="1">
                <a:solidFill>
                  <a:srgbClr val="F5C643"/>
                </a:solidFill>
                <a:latin typeface="Arial"/>
              </a:rPr>
              <a:t>CURRENT / FUTURE GAPS</a:t>
            </a:r>
          </a:p>
        </p:txBody>
      </p:sp>
      <p:sp>
        <p:nvSpPr>
          <p:cNvPr id="228" name="TextBox 227"/>
          <p:cNvSpPr txBox="1"/>
          <p:nvPr/>
        </p:nvSpPr>
        <p:spPr>
          <a:xfrm>
            <a:off x="822960" y="2286000"/>
            <a:ext cx="4626864" cy="3182112"/>
          </a:xfrm>
          <a:prstGeom prst="rect">
            <a:avLst/>
          </a:prstGeom>
          <a:noFill/>
          <a:ln>
            <a:noFill/>
          </a:ln>
        </p:spPr>
        <p:txBody>
          <a:bodyPr wrap="square" lIns="73152" rIns="73152" anchor="t">
            <a:spAutoFit/>
          </a:bodyPr>
          <a:lstStyle/>
          <a:p>
            <a:pPr algn="l">
              <a:spcAft>
                <a:spcPts val="300"/>
              </a:spcAft>
            </a:pPr>
            <a:r>
              <a:rPr sz="1700" b="0">
                <a:solidFill>
                  <a:srgbClr val="EBEBEB"/>
                </a:solidFill>
                <a:latin typeface="Arial"/>
              </a:rPr>
              <a:t>• Formal third-party dependency and SBOM policy</a:t>
            </a:r>
          </a:p>
          <a:p>
            <a:pPr algn="l">
              <a:spcAft>
                <a:spcPts val="300"/>
              </a:spcAft>
            </a:pPr>
            <a:r>
              <a:rPr sz="1700" b="0">
                <a:solidFill>
                  <a:srgbClr val="EBEBEB"/>
                </a:solidFill>
                <a:latin typeface="Arial"/>
              </a:rPr>
              <a:t>• Measurable security-test coverage and release gates</a:t>
            </a:r>
          </a:p>
          <a:p>
            <a:pPr algn="l">
              <a:spcAft>
                <a:spcPts val="300"/>
              </a:spcAft>
            </a:pPr>
            <a:r>
              <a:rPr sz="1700" b="0">
                <a:solidFill>
                  <a:srgbClr val="EBEBEB"/>
                </a:solidFill>
                <a:latin typeface="Arial"/>
              </a:rPr>
              <a:t>• Scheduled threat-model and attack-surface reviews</a:t>
            </a:r>
          </a:p>
          <a:p>
            <a:pPr algn="l">
              <a:spcAft>
                <a:spcPts val="300"/>
              </a:spcAft>
            </a:pPr>
            <a:r>
              <a:rPr sz="1700" b="0">
                <a:solidFill>
                  <a:srgbClr val="EBEBEB"/>
                </a:solidFill>
                <a:latin typeface="Arial"/>
              </a:rPr>
              <a:t>• Stronger key/secret rotation metrics</a:t>
            </a:r>
          </a:p>
          <a:p>
            <a:pPr algn="l">
              <a:spcAft>
                <a:spcPts val="300"/>
              </a:spcAft>
            </a:pPr>
            <a:r>
              <a:rPr sz="1700" b="0">
                <a:solidFill>
                  <a:srgbClr val="EBEBEB"/>
                </a:solidFill>
                <a:latin typeface="Arial"/>
              </a:rPr>
              <a:t>• More runtime application/database telemetry</a:t>
            </a:r>
          </a:p>
        </p:txBody>
      </p:sp>
      <p:sp>
        <p:nvSpPr>
          <p:cNvPr id="229" name="Rounded Rectangle 228"/>
          <p:cNvSpPr/>
          <p:nvPr/>
        </p:nvSpPr>
        <p:spPr>
          <a:xfrm>
            <a:off x="5687568" y="1737360"/>
            <a:ext cx="4846320" cy="3840480"/>
          </a:xfrm>
          <a:prstGeom prst="roundRect">
            <a:avLst/>
          </a:prstGeom>
          <a:solidFill>
            <a:srgbClr val="232323"/>
          </a:solidFill>
          <a:ln w="19050">
            <a:solidFill>
              <a:srgbClr val="719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TextBox 229"/>
          <p:cNvSpPr txBox="1"/>
          <p:nvPr/>
        </p:nvSpPr>
        <p:spPr>
          <a:xfrm>
            <a:off x="5797296" y="1828800"/>
            <a:ext cx="4626864" cy="411480"/>
          </a:xfrm>
          <a:prstGeom prst="rect">
            <a:avLst/>
          </a:prstGeom>
          <a:noFill/>
          <a:ln>
            <a:noFill/>
          </a:ln>
        </p:spPr>
        <p:txBody>
          <a:bodyPr wrap="square" lIns="73152" rIns="73152" anchor="t">
            <a:spAutoFit/>
          </a:bodyPr>
          <a:lstStyle/>
          <a:p>
            <a:pPr algn="l">
              <a:spcAft>
                <a:spcPts val="300"/>
              </a:spcAft>
            </a:pPr>
            <a:r>
              <a:rPr sz="2100" b="1">
                <a:solidFill>
                  <a:srgbClr val="719E48"/>
                </a:solidFill>
                <a:latin typeface="Arial"/>
              </a:rPr>
              <a:t>GET IN FRONT OF THREATS</a:t>
            </a:r>
          </a:p>
        </p:txBody>
      </p:sp>
      <p:sp>
        <p:nvSpPr>
          <p:cNvPr id="231" name="TextBox 230"/>
          <p:cNvSpPr txBox="1"/>
          <p:nvPr/>
        </p:nvSpPr>
        <p:spPr>
          <a:xfrm>
            <a:off x="5797296" y="2286000"/>
            <a:ext cx="4626864" cy="3182112"/>
          </a:xfrm>
          <a:prstGeom prst="rect">
            <a:avLst/>
          </a:prstGeom>
          <a:noFill/>
          <a:ln>
            <a:noFill/>
          </a:ln>
        </p:spPr>
        <p:txBody>
          <a:bodyPr wrap="square" lIns="73152" rIns="73152" anchor="t">
            <a:spAutoFit/>
          </a:bodyPr>
          <a:lstStyle/>
          <a:p>
            <a:pPr algn="l">
              <a:spcAft>
                <a:spcPts val="300"/>
              </a:spcAft>
            </a:pPr>
            <a:r>
              <a:rPr sz="1700" b="0">
                <a:solidFill>
                  <a:srgbClr val="EBEBEB"/>
                </a:solidFill>
                <a:latin typeface="Arial"/>
              </a:rPr>
              <a:t>• Ask what an attacker wants: money, data, disruption</a:t>
            </a:r>
          </a:p>
          <a:p>
            <a:pPr algn="l">
              <a:spcAft>
                <a:spcPts val="300"/>
              </a:spcAft>
            </a:pPr>
            <a:r>
              <a:rPr sz="1700" b="0">
                <a:solidFill>
                  <a:srgbClr val="EBEBEB"/>
                </a:solidFill>
                <a:latin typeface="Arial"/>
              </a:rPr>
              <a:t>• Threat-model before coding</a:t>
            </a:r>
          </a:p>
          <a:p>
            <a:pPr algn="l">
              <a:spcAft>
                <a:spcPts val="300"/>
              </a:spcAft>
            </a:pPr>
            <a:r>
              <a:rPr sz="1700" b="0">
                <a:solidFill>
                  <a:srgbClr val="EBEBEB"/>
                </a:solidFill>
                <a:latin typeface="Arial"/>
              </a:rPr>
              <a:t>• Fuzz trust boundaries and high-risk parsers</a:t>
            </a:r>
          </a:p>
          <a:p>
            <a:pPr algn="l">
              <a:spcAft>
                <a:spcPts val="300"/>
              </a:spcAft>
            </a:pPr>
            <a:r>
              <a:rPr sz="1700" b="0">
                <a:solidFill>
                  <a:srgbClr val="EBEBEB"/>
                </a:solidFill>
                <a:latin typeface="Arial"/>
              </a:rPr>
              <a:t>• Continuously scan dependencies and code</a:t>
            </a:r>
          </a:p>
          <a:p>
            <a:pPr algn="l">
              <a:spcAft>
                <a:spcPts val="300"/>
              </a:spcAft>
            </a:pPr>
            <a:r>
              <a:rPr sz="1700" b="0">
                <a:solidFill>
                  <a:srgbClr val="EBEBEB"/>
                </a:solidFill>
                <a:latin typeface="Arial"/>
              </a:rPr>
              <a:t>• Feed incidents and test failures back into policy</a:t>
            </a:r>
          </a:p>
        </p:txBody>
      </p:sp>
      <p:sp>
        <p:nvSpPr>
          <p:cNvPr id="232" name="TextBox 231"/>
          <p:cNvSpPr txBox="1"/>
          <p:nvPr/>
        </p:nvSpPr>
        <p:spPr>
          <a:xfrm>
            <a:off x="868680" y="5577839"/>
            <a:ext cx="9555480" cy="553998"/>
          </a:xfrm>
          <a:prstGeom prst="rect">
            <a:avLst/>
          </a:prstGeom>
          <a:solidFill>
            <a:srgbClr val="2D2D2D"/>
          </a:solidFill>
          <a:ln>
            <a:solidFill>
              <a:srgbClr val="E17E31"/>
            </a:solidFill>
          </a:ln>
        </p:spPr>
        <p:txBody>
          <a:bodyPr wrap="square" lIns="73152" rIns="73152" anchor="t">
            <a:spAutoFit/>
          </a:bodyPr>
          <a:lstStyle/>
          <a:p>
            <a:pPr algn="l">
              <a:spcAft>
                <a:spcPts val="300"/>
              </a:spcAft>
            </a:pPr>
            <a:r>
              <a:rPr sz="1500" b="0" dirty="0">
                <a:solidFill>
                  <a:srgbClr val="EBEBEB"/>
                </a:solidFill>
                <a:latin typeface="Arial"/>
              </a:rPr>
              <a:t>Real-world lesson: CISA/FBI documented active exploitation of the 2023 </a:t>
            </a:r>
            <a:r>
              <a:rPr sz="1500" b="0" dirty="0" err="1">
                <a:solidFill>
                  <a:srgbClr val="EBEBEB"/>
                </a:solidFill>
                <a:latin typeface="Arial"/>
              </a:rPr>
              <a:t>MOVEit</a:t>
            </a:r>
            <a:r>
              <a:rPr sz="1500" b="0" dirty="0">
                <a:solidFill>
                  <a:srgbClr val="EBEBEB"/>
                </a:solidFill>
                <a:latin typeface="Arial"/>
              </a:rPr>
              <a:t> SQL injection flaw (CVE-2023-34362).</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3016"/>
    </mc:Choice>
    <mc:Fallback xmlns="">
      <p:transition spd="slow" advTm="63016"/>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r>
              <a:rPr sz="3300">
                <a:solidFill>
                  <a:srgbClr val="FFFFFF"/>
                </a:solidFill>
                <a:latin typeface="Arial"/>
              </a:rPr>
              <a:t>CONCLUSIONS</a:t>
            </a:r>
          </a:p>
        </p:txBody>
      </p:sp>
      <p:pic>
        <p:nvPicPr>
          <p:cNvPr id="232" name="Google Shape;232;p13"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233" name="Rounded Rectangle 232"/>
          <p:cNvSpPr/>
          <p:nvPr/>
        </p:nvSpPr>
        <p:spPr>
          <a:xfrm>
            <a:off x="713232" y="1828800"/>
            <a:ext cx="3246120" cy="3566160"/>
          </a:xfrm>
          <a:prstGeom prst="roundRect">
            <a:avLst/>
          </a:prstGeom>
          <a:solidFill>
            <a:srgbClr val="232323"/>
          </a:solidFill>
          <a:ln w="19050">
            <a:solidFill>
              <a:srgbClr val="719E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TextBox 233"/>
          <p:cNvSpPr txBox="1"/>
          <p:nvPr/>
        </p:nvSpPr>
        <p:spPr>
          <a:xfrm>
            <a:off x="822960" y="1920240"/>
            <a:ext cx="3026664" cy="411480"/>
          </a:xfrm>
          <a:prstGeom prst="rect">
            <a:avLst/>
          </a:prstGeom>
          <a:noFill/>
          <a:ln>
            <a:noFill/>
          </a:ln>
        </p:spPr>
        <p:txBody>
          <a:bodyPr wrap="square" lIns="73152" rIns="73152" anchor="t">
            <a:spAutoFit/>
          </a:bodyPr>
          <a:lstStyle/>
          <a:p>
            <a:pPr algn="l">
              <a:spcAft>
                <a:spcPts val="300"/>
              </a:spcAft>
            </a:pPr>
            <a:r>
              <a:rPr sz="2100" b="1">
                <a:solidFill>
                  <a:srgbClr val="719E48"/>
                </a:solidFill>
                <a:latin typeface="Arial"/>
              </a:rPr>
              <a:t>KEEP</a:t>
            </a:r>
          </a:p>
        </p:txBody>
      </p:sp>
      <p:sp>
        <p:nvSpPr>
          <p:cNvPr id="235" name="TextBox 234"/>
          <p:cNvSpPr txBox="1"/>
          <p:nvPr/>
        </p:nvSpPr>
        <p:spPr>
          <a:xfrm>
            <a:off x="822960" y="2377440"/>
            <a:ext cx="3026664" cy="2907792"/>
          </a:xfrm>
          <a:prstGeom prst="rect">
            <a:avLst/>
          </a:prstGeom>
          <a:noFill/>
          <a:ln>
            <a:noFill/>
          </a:ln>
        </p:spPr>
        <p:txBody>
          <a:bodyPr wrap="square" lIns="73152" rIns="73152" anchor="t">
            <a:spAutoFit/>
          </a:bodyPr>
          <a:lstStyle/>
          <a:p>
            <a:pPr algn="l">
              <a:spcAft>
                <a:spcPts val="300"/>
              </a:spcAft>
            </a:pPr>
            <a:r>
              <a:rPr sz="1700" b="0">
                <a:solidFill>
                  <a:srgbClr val="EBEBEB"/>
                </a:solidFill>
                <a:latin typeface="Arial"/>
              </a:rPr>
              <a:t>SEI CERT C++ as the coding baseline</a:t>
            </a:r>
          </a:p>
          <a:p>
            <a:pPr algn="l">
              <a:spcAft>
                <a:spcPts val="300"/>
              </a:spcAft>
            </a:pPr>
            <a:endParaRPr sz="1700" b="0">
              <a:solidFill>
                <a:srgbClr val="EBEBEB"/>
              </a:solidFill>
              <a:latin typeface="Arial"/>
            </a:endParaRPr>
          </a:p>
          <a:p>
            <a:pPr algn="l">
              <a:spcAft>
                <a:spcPts val="300"/>
              </a:spcAft>
            </a:pPr>
            <a:r>
              <a:rPr sz="1700" b="0">
                <a:solidFill>
                  <a:srgbClr val="EBEBEB"/>
                </a:solidFill>
                <a:latin typeface="Arial"/>
              </a:rPr>
              <a:t>Defense in depth</a:t>
            </a:r>
          </a:p>
          <a:p>
            <a:pPr algn="l">
              <a:spcAft>
                <a:spcPts val="300"/>
              </a:spcAft>
            </a:pPr>
            <a:r>
              <a:rPr sz="1700" b="0">
                <a:solidFill>
                  <a:srgbClr val="EBEBEB"/>
                </a:solidFill>
                <a:latin typeface="Arial"/>
              </a:rPr>
              <a:t>Triple-A controls</a:t>
            </a:r>
          </a:p>
          <a:p>
            <a:pPr algn="l">
              <a:spcAft>
                <a:spcPts val="300"/>
              </a:spcAft>
            </a:pPr>
            <a:r>
              <a:rPr sz="1700" b="0">
                <a:solidFill>
                  <a:srgbClr val="EBEBEB"/>
                </a:solidFill>
                <a:latin typeface="Arial"/>
              </a:rPr>
              <a:t>Encryption across the data lifecycle</a:t>
            </a:r>
          </a:p>
        </p:txBody>
      </p:sp>
      <p:sp>
        <p:nvSpPr>
          <p:cNvPr id="236" name="Rounded Rectangle 235"/>
          <p:cNvSpPr/>
          <p:nvPr/>
        </p:nvSpPr>
        <p:spPr>
          <a:xfrm>
            <a:off x="4050791" y="1828800"/>
            <a:ext cx="3246120" cy="3566160"/>
          </a:xfrm>
          <a:prstGeom prst="roundRect">
            <a:avLst/>
          </a:prstGeom>
          <a:solidFill>
            <a:srgbClr val="232323"/>
          </a:solidFill>
          <a:ln w="19050">
            <a:solidFill>
              <a:srgbClr val="4989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TextBox 236"/>
          <p:cNvSpPr txBox="1"/>
          <p:nvPr/>
        </p:nvSpPr>
        <p:spPr>
          <a:xfrm>
            <a:off x="4160519" y="1920240"/>
            <a:ext cx="3026664" cy="411480"/>
          </a:xfrm>
          <a:prstGeom prst="rect">
            <a:avLst/>
          </a:prstGeom>
          <a:noFill/>
          <a:ln>
            <a:noFill/>
          </a:ln>
        </p:spPr>
        <p:txBody>
          <a:bodyPr wrap="square" lIns="73152" rIns="73152" anchor="t">
            <a:spAutoFit/>
          </a:bodyPr>
          <a:lstStyle/>
          <a:p>
            <a:pPr algn="l">
              <a:spcAft>
                <a:spcPts val="300"/>
              </a:spcAft>
            </a:pPr>
            <a:r>
              <a:rPr sz="2100" b="1">
                <a:solidFill>
                  <a:srgbClr val="4989B8"/>
                </a:solidFill>
                <a:latin typeface="Arial"/>
              </a:rPr>
              <a:t>ADOPT</a:t>
            </a:r>
          </a:p>
        </p:txBody>
      </p:sp>
      <p:sp>
        <p:nvSpPr>
          <p:cNvPr id="238" name="TextBox 237"/>
          <p:cNvSpPr txBox="1"/>
          <p:nvPr/>
        </p:nvSpPr>
        <p:spPr>
          <a:xfrm>
            <a:off x="4160519" y="2377440"/>
            <a:ext cx="3026664" cy="2907792"/>
          </a:xfrm>
          <a:prstGeom prst="rect">
            <a:avLst/>
          </a:prstGeom>
          <a:noFill/>
          <a:ln>
            <a:noFill/>
          </a:ln>
        </p:spPr>
        <p:txBody>
          <a:bodyPr wrap="square" lIns="73152" rIns="73152" anchor="t">
            <a:spAutoFit/>
          </a:bodyPr>
          <a:lstStyle/>
          <a:p>
            <a:pPr algn="l">
              <a:spcAft>
                <a:spcPts val="300"/>
              </a:spcAft>
            </a:pPr>
            <a:r>
              <a:rPr sz="1700" b="0">
                <a:solidFill>
                  <a:srgbClr val="EBEBEB"/>
                </a:solidFill>
                <a:latin typeface="Arial"/>
              </a:rPr>
              <a:t>NIST SSDF for lifecycle governance</a:t>
            </a:r>
          </a:p>
          <a:p>
            <a:pPr algn="l">
              <a:spcAft>
                <a:spcPts val="300"/>
              </a:spcAft>
            </a:pPr>
            <a:endParaRPr sz="1700" b="0">
              <a:solidFill>
                <a:srgbClr val="EBEBEB"/>
              </a:solidFill>
              <a:latin typeface="Arial"/>
            </a:endParaRPr>
          </a:p>
          <a:p>
            <a:pPr algn="l">
              <a:spcAft>
                <a:spcPts val="300"/>
              </a:spcAft>
            </a:pPr>
            <a:r>
              <a:rPr sz="1700" b="0">
                <a:solidFill>
                  <a:srgbClr val="EBEBEB"/>
                </a:solidFill>
                <a:latin typeface="Arial"/>
              </a:rPr>
              <a:t>OWASP ASVS 5.0 for web-application verification requirements</a:t>
            </a:r>
          </a:p>
          <a:p>
            <a:pPr algn="l">
              <a:spcAft>
                <a:spcPts val="300"/>
              </a:spcAft>
            </a:pPr>
            <a:endParaRPr sz="1700" b="0">
              <a:solidFill>
                <a:srgbClr val="EBEBEB"/>
              </a:solidFill>
              <a:latin typeface="Arial"/>
            </a:endParaRPr>
          </a:p>
          <a:p>
            <a:pPr algn="l">
              <a:spcAft>
                <a:spcPts val="300"/>
              </a:spcAft>
            </a:pPr>
            <a:r>
              <a:rPr sz="1700" b="0">
                <a:solidFill>
                  <a:srgbClr val="EBEBEB"/>
                </a:solidFill>
                <a:latin typeface="Arial"/>
              </a:rPr>
              <a:t>Risk-based CI/CD release gates</a:t>
            </a:r>
          </a:p>
        </p:txBody>
      </p:sp>
      <p:sp>
        <p:nvSpPr>
          <p:cNvPr id="239" name="Rounded Rectangle 238"/>
          <p:cNvSpPr/>
          <p:nvPr/>
        </p:nvSpPr>
        <p:spPr>
          <a:xfrm>
            <a:off x="7388352" y="1828800"/>
            <a:ext cx="3246120" cy="3566160"/>
          </a:xfrm>
          <a:prstGeom prst="roundRect">
            <a:avLst/>
          </a:prstGeom>
          <a:solidFill>
            <a:srgbClr val="232323"/>
          </a:solidFill>
          <a:ln w="19050">
            <a:solidFill>
              <a:srgbClr val="F5C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TextBox 239"/>
          <p:cNvSpPr txBox="1"/>
          <p:nvPr/>
        </p:nvSpPr>
        <p:spPr>
          <a:xfrm>
            <a:off x="7498080" y="1920240"/>
            <a:ext cx="3026664" cy="411480"/>
          </a:xfrm>
          <a:prstGeom prst="rect">
            <a:avLst/>
          </a:prstGeom>
          <a:noFill/>
          <a:ln>
            <a:noFill/>
          </a:ln>
        </p:spPr>
        <p:txBody>
          <a:bodyPr wrap="square" lIns="73152" rIns="73152" anchor="t">
            <a:spAutoFit/>
          </a:bodyPr>
          <a:lstStyle/>
          <a:p>
            <a:pPr algn="l">
              <a:spcAft>
                <a:spcPts val="300"/>
              </a:spcAft>
            </a:pPr>
            <a:r>
              <a:rPr sz="2100" b="1">
                <a:solidFill>
                  <a:srgbClr val="F5C643"/>
                </a:solidFill>
                <a:latin typeface="Arial"/>
              </a:rPr>
              <a:t>MEASURE</a:t>
            </a:r>
          </a:p>
        </p:txBody>
      </p:sp>
      <p:sp>
        <p:nvSpPr>
          <p:cNvPr id="241" name="TextBox 240"/>
          <p:cNvSpPr txBox="1"/>
          <p:nvPr/>
        </p:nvSpPr>
        <p:spPr>
          <a:xfrm>
            <a:off x="7498080" y="2377440"/>
            <a:ext cx="3026664" cy="2907792"/>
          </a:xfrm>
          <a:prstGeom prst="rect">
            <a:avLst/>
          </a:prstGeom>
          <a:noFill/>
          <a:ln>
            <a:noFill/>
          </a:ln>
        </p:spPr>
        <p:txBody>
          <a:bodyPr wrap="square" lIns="73152" rIns="73152" anchor="t">
            <a:spAutoFit/>
          </a:bodyPr>
          <a:lstStyle/>
          <a:p>
            <a:pPr algn="l">
              <a:spcAft>
                <a:spcPts val="300"/>
              </a:spcAft>
            </a:pPr>
            <a:r>
              <a:rPr sz="1700" b="0">
                <a:solidFill>
                  <a:srgbClr val="EBEBEB"/>
                </a:solidFill>
                <a:latin typeface="Arial"/>
              </a:rPr>
              <a:t>Time to remediate high-risk findings</a:t>
            </a:r>
          </a:p>
          <a:p>
            <a:pPr algn="l">
              <a:spcAft>
                <a:spcPts val="300"/>
              </a:spcAft>
            </a:pPr>
            <a:r>
              <a:rPr sz="1700" b="0">
                <a:solidFill>
                  <a:srgbClr val="EBEBEB"/>
                </a:solidFill>
                <a:latin typeface="Arial"/>
              </a:rPr>
              <a:t>Security test coverage</a:t>
            </a:r>
          </a:p>
          <a:p>
            <a:pPr algn="l">
              <a:spcAft>
                <a:spcPts val="300"/>
              </a:spcAft>
            </a:pPr>
            <a:r>
              <a:rPr sz="1700" b="0">
                <a:solidFill>
                  <a:srgbClr val="EBEBEB"/>
                </a:solidFill>
                <a:latin typeface="Arial"/>
              </a:rPr>
              <a:t>Dependency age / known vulnerabilities</a:t>
            </a:r>
          </a:p>
          <a:p>
            <a:pPr algn="l">
              <a:spcAft>
                <a:spcPts val="300"/>
              </a:spcAft>
            </a:pPr>
            <a:r>
              <a:rPr sz="1700" b="0">
                <a:solidFill>
                  <a:srgbClr val="EBEBEB"/>
                </a:solidFill>
                <a:latin typeface="Arial"/>
              </a:rPr>
              <a:t>Policy exceptions and repeat defects</a:t>
            </a:r>
          </a:p>
        </p:txBody>
      </p:sp>
      <p:sp>
        <p:nvSpPr>
          <p:cNvPr id="242" name="TextBox 241"/>
          <p:cNvSpPr txBox="1"/>
          <p:nvPr/>
        </p:nvSpPr>
        <p:spPr>
          <a:xfrm>
            <a:off x="841248" y="5522976"/>
            <a:ext cx="9509760" cy="384048"/>
          </a:xfrm>
          <a:prstGeom prst="rect">
            <a:avLst/>
          </a:prstGeom>
          <a:noFill/>
          <a:ln>
            <a:noFill/>
          </a:ln>
        </p:spPr>
        <p:txBody>
          <a:bodyPr wrap="square" lIns="73152" rIns="73152" anchor="t">
            <a:spAutoFit/>
          </a:bodyPr>
          <a:lstStyle/>
          <a:p>
            <a:pPr algn="l">
              <a:spcAft>
                <a:spcPts val="300"/>
              </a:spcAft>
            </a:pPr>
            <a:r>
              <a:rPr sz="1600" b="0">
                <a:solidFill>
                  <a:srgbClr val="EBEBEB"/>
                </a:solidFill>
                <a:latin typeface="Arial"/>
              </a:rPr>
              <a:t>Goal: security becomes a normal engineering activity—not a final checkpoint after development is finished.</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9421"/>
    </mc:Choice>
    <mc:Fallback xmlns="">
      <p:transition spd="slow" advTm="69421"/>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r>
              <a:rPr sz="3300">
                <a:solidFill>
                  <a:srgbClr val="FFFFFF"/>
                </a:solidFill>
                <a:latin typeface="Arial"/>
              </a:rPr>
              <a:t>REFERENCES</a:t>
            </a:r>
          </a:p>
        </p:txBody>
      </p:sp>
      <p:pic>
        <p:nvPicPr>
          <p:cNvPr id="239" name="Google Shape;239;p14"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240" name="TextBox 239"/>
          <p:cNvSpPr txBox="1"/>
          <p:nvPr/>
        </p:nvSpPr>
        <p:spPr>
          <a:xfrm>
            <a:off x="685800" y="1673352"/>
            <a:ext cx="5074920" cy="4389120"/>
          </a:xfrm>
          <a:prstGeom prst="rect">
            <a:avLst/>
          </a:prstGeom>
          <a:noFill/>
          <a:ln>
            <a:noFill/>
          </a:ln>
        </p:spPr>
        <p:txBody>
          <a:bodyPr wrap="square" lIns="73152" rIns="73152" anchor="t">
            <a:spAutoFit/>
          </a:bodyPr>
          <a:lstStyle/>
          <a:p>
            <a:pPr algn="l">
              <a:spcAft>
                <a:spcPts val="300"/>
              </a:spcAft>
            </a:pPr>
            <a:r>
              <a:rPr sz="1300" b="0">
                <a:solidFill>
                  <a:srgbClr val="EBEBEB"/>
                </a:solidFill>
                <a:latin typeface="Arial"/>
              </a:rPr>
              <a:t>Seacord, R. C. (2013). Secure Coding in C and C++ (2nd ed.). Addison-Wesley.</a:t>
            </a:r>
          </a:p>
          <a:p>
            <a:pPr algn="l">
              <a:spcAft>
                <a:spcPts val="300"/>
              </a:spcAft>
            </a:pPr>
            <a:endParaRPr sz="1300" b="0">
              <a:solidFill>
                <a:srgbClr val="EBEBEB"/>
              </a:solidFill>
              <a:latin typeface="Arial"/>
            </a:endParaRPr>
          </a:p>
          <a:p>
            <a:pPr algn="l">
              <a:spcAft>
                <a:spcPts val="300"/>
              </a:spcAft>
            </a:pPr>
            <a:r>
              <a:rPr sz="1300" b="0">
                <a:solidFill>
                  <a:srgbClr val="EBEBEB"/>
                </a:solidFill>
                <a:latin typeface="Arial"/>
              </a:rPr>
              <a:t>Software Engineering Institute. (n.d.). SEI CERT C++ Coding Standard. Carnegie Mellon University. https://wiki.sei.cmu.edu/</a:t>
            </a:r>
          </a:p>
          <a:p>
            <a:pPr algn="l">
              <a:spcAft>
                <a:spcPts val="300"/>
              </a:spcAft>
            </a:pPr>
            <a:endParaRPr sz="1300" b="0">
              <a:solidFill>
                <a:srgbClr val="EBEBEB"/>
              </a:solidFill>
              <a:latin typeface="Arial"/>
            </a:endParaRPr>
          </a:p>
          <a:p>
            <a:pPr algn="l">
              <a:spcAft>
                <a:spcPts val="300"/>
              </a:spcAft>
            </a:pPr>
            <a:r>
              <a:rPr sz="1300" b="0">
                <a:solidFill>
                  <a:srgbClr val="EBEBEB"/>
                </a:solidFill>
                <a:latin typeface="Arial"/>
              </a:rPr>
              <a:t>National Institute of Standards and Technology. (2022). Secure Software Development Framework (SSDF) Version 1.1 (SP 800-218). https://doi.org/10.6028/NIST.SP.800-218</a:t>
            </a:r>
          </a:p>
        </p:txBody>
      </p:sp>
      <p:sp>
        <p:nvSpPr>
          <p:cNvPr id="241" name="TextBox 240"/>
          <p:cNvSpPr txBox="1"/>
          <p:nvPr/>
        </p:nvSpPr>
        <p:spPr>
          <a:xfrm>
            <a:off x="5760720" y="1673352"/>
            <a:ext cx="5074920" cy="4389120"/>
          </a:xfrm>
          <a:prstGeom prst="rect">
            <a:avLst/>
          </a:prstGeom>
          <a:noFill/>
          <a:ln>
            <a:noFill/>
          </a:ln>
        </p:spPr>
        <p:txBody>
          <a:bodyPr wrap="square" lIns="73152" rIns="73152" anchor="t">
            <a:spAutoFit/>
          </a:bodyPr>
          <a:lstStyle/>
          <a:p>
            <a:pPr algn="l">
              <a:spcAft>
                <a:spcPts val="300"/>
              </a:spcAft>
            </a:pPr>
            <a:r>
              <a:rPr sz="1300" b="0">
                <a:solidFill>
                  <a:srgbClr val="EBEBEB"/>
                </a:solidFill>
                <a:latin typeface="Arial"/>
              </a:rPr>
              <a:t>Microsoft. (n.d.). Use the Microsoft Unit Testing Framework for C++ in Visual Studio. https://learn.microsoft.com/visualstudio/test/how-to-use-microsoft-test-framework-for-cpp</a:t>
            </a:r>
          </a:p>
          <a:p>
            <a:pPr algn="l">
              <a:spcAft>
                <a:spcPts val="300"/>
              </a:spcAft>
            </a:pPr>
            <a:endParaRPr sz="1300" b="0">
              <a:solidFill>
                <a:srgbClr val="EBEBEB"/>
              </a:solidFill>
              <a:latin typeface="Arial"/>
            </a:endParaRPr>
          </a:p>
          <a:p>
            <a:pPr algn="l">
              <a:spcAft>
                <a:spcPts val="300"/>
              </a:spcAft>
            </a:pPr>
            <a:r>
              <a:rPr sz="1300" b="0">
                <a:solidFill>
                  <a:srgbClr val="EBEBEB"/>
                </a:solidFill>
                <a:latin typeface="Arial"/>
              </a:rPr>
              <a:t>Cppcheck. (n.d.). Cppcheck manual. https://cppcheck.sourceforge.io/manual.html</a:t>
            </a:r>
          </a:p>
          <a:p>
            <a:pPr algn="l">
              <a:spcAft>
                <a:spcPts val="300"/>
              </a:spcAft>
            </a:pPr>
            <a:endParaRPr sz="1300" b="0">
              <a:solidFill>
                <a:srgbClr val="EBEBEB"/>
              </a:solidFill>
              <a:latin typeface="Arial"/>
            </a:endParaRPr>
          </a:p>
          <a:p>
            <a:pPr algn="l">
              <a:spcAft>
                <a:spcPts val="300"/>
              </a:spcAft>
            </a:pPr>
            <a:r>
              <a:rPr sz="1300" b="0">
                <a:solidFill>
                  <a:srgbClr val="EBEBEB"/>
                </a:solidFill>
                <a:latin typeface="Arial"/>
              </a:rPr>
              <a:t>CISA &amp; FBI. (2023, June 7). #StopRansomware: CL0P ransomware gang exploits CVE-2023-34362 MOVEit vulnerability (AA23-158A). https://www.cisa.gov/</a:t>
            </a:r>
          </a:p>
          <a:p>
            <a:pPr algn="l">
              <a:spcAft>
                <a:spcPts val="300"/>
              </a:spcAft>
            </a:pPr>
            <a:endParaRPr sz="1300" b="0">
              <a:solidFill>
                <a:srgbClr val="EBEBEB"/>
              </a:solidFill>
              <a:latin typeface="Arial"/>
            </a:endParaRPr>
          </a:p>
          <a:p>
            <a:pPr algn="l">
              <a:spcAft>
                <a:spcPts val="300"/>
              </a:spcAft>
            </a:pPr>
            <a:r>
              <a:rPr sz="1300" b="0">
                <a:solidFill>
                  <a:srgbClr val="EBEBEB"/>
                </a:solidFill>
                <a:latin typeface="Arial"/>
              </a:rPr>
              <a:t>OWASP Foundation. (2026). Application Security Verification Standard (ASVS) 5.0.0. https://owasp.org/projects/asvs</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4243"/>
    </mc:Choice>
    <mc:Fallback xmlns="">
      <p:transition spd="slow" advTm="44243"/>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118</TotalTime>
  <Words>1472</Words>
  <Application>Microsoft Office PowerPoint</Application>
  <PresentationFormat>Widescreen</PresentationFormat>
  <Paragraphs>222</Paragraphs>
  <Slides>20</Slides>
  <Notes>14</Notes>
  <HiddenSlides>0</HiddenSlides>
  <MMClips>20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 SQL INJECTION</vt:lpstr>
      <vt:lpstr>TEST 1 — NORMAL QUERY</vt:lpstr>
      <vt:lpstr>TEST 2 — VALID WHERE QUERY</vt:lpstr>
      <vt:lpstr>TEST 3 — OR 1=1</vt:lpstr>
      <vt:lpstr>TEST 4 — OR 2=2</vt:lpstr>
      <vt:lpstr>TEST 5 — QUOTED STRING</vt:lpstr>
      <vt:lpstr>TEST 6 — SECOND STRING CASE</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Coden Polk</cp:lastModifiedBy>
  <cp:revision>6</cp:revision>
  <dcterms:created xsi:type="dcterms:W3CDTF">2020-08-19T17:59:24Z</dcterms:created>
  <dcterms:modified xsi:type="dcterms:W3CDTF">2026-10-15T14:16:45Z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